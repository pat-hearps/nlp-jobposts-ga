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2"/>
    <p:sldId id="284" r:id="rId3"/>
    <p:sldId id="283" r:id="rId4"/>
    <p:sldId id="282" r:id="rId5"/>
    <p:sldId id="296" r:id="rId6"/>
    <p:sldId id="295" r:id="rId7"/>
    <p:sldId id="288" r:id="rId8"/>
    <p:sldId id="297" r:id="rId9"/>
    <p:sldId id="289" r:id="rId10"/>
    <p:sldId id="291" r:id="rId11"/>
    <p:sldId id="292" r:id="rId12"/>
    <p:sldId id="287" r:id="rId13"/>
    <p:sldId id="293" r:id="rId14"/>
    <p:sldId id="290" r:id="rId15"/>
    <p:sldId id="294" r:id="rId16"/>
    <p:sldId id="29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D68B"/>
    <a:srgbClr val="FF00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81"/>
    <p:restoredTop sz="79466"/>
  </p:normalViewPr>
  <p:slideViewPr>
    <p:cSldViewPr snapToGrid="0" snapToObjects="1">
      <p:cViewPr varScale="1">
        <p:scale>
          <a:sx n="88" d="100"/>
          <a:sy n="88" d="100"/>
        </p:scale>
        <p:origin x="85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en-US" sz="2400"/>
              <a:t>Modelling Results - Accuracy Score</a:t>
            </a:r>
          </a:p>
        </c:rich>
      </c:tx>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6"/>
            </a:solidFill>
            <a:ln>
              <a:noFill/>
            </a:ln>
            <a:effectLst/>
          </c:spPr>
          <c:invertIfNegative val="0"/>
          <c:cat>
            <c:strRef>
              <c:f>Sheet1!$C$5:$F$5</c:f>
              <c:strCache>
                <c:ptCount val="4"/>
                <c:pt idx="0">
                  <c:v>Baseline</c:v>
                </c:pt>
                <c:pt idx="1">
                  <c:v>GNB CV</c:v>
                </c:pt>
                <c:pt idx="2">
                  <c:v>Decision Tree</c:v>
                </c:pt>
                <c:pt idx="3">
                  <c:v>Random Forest CV</c:v>
                </c:pt>
              </c:strCache>
            </c:strRef>
          </c:cat>
          <c:val>
            <c:numRef>
              <c:f>Sheet1!$C$6:$F$6</c:f>
              <c:numCache>
                <c:formatCode>General</c:formatCode>
                <c:ptCount val="4"/>
                <c:pt idx="0">
                  <c:v>0.27800000000000002</c:v>
                </c:pt>
                <c:pt idx="1">
                  <c:v>0.50649999999999995</c:v>
                </c:pt>
                <c:pt idx="2">
                  <c:v>0.52300000000000002</c:v>
                </c:pt>
                <c:pt idx="3">
                  <c:v>0.56699999999999995</c:v>
                </c:pt>
              </c:numCache>
            </c:numRef>
          </c:val>
          <c:extLst>
            <c:ext xmlns:c16="http://schemas.microsoft.com/office/drawing/2014/chart" uri="{C3380CC4-5D6E-409C-BE32-E72D297353CC}">
              <c16:uniqueId val="{00000000-BB8A-8F48-B14D-4A98B8AF2138}"/>
            </c:ext>
          </c:extLst>
        </c:ser>
        <c:dLbls>
          <c:showLegendKey val="0"/>
          <c:showVal val="0"/>
          <c:showCatName val="0"/>
          <c:showSerName val="0"/>
          <c:showPercent val="0"/>
          <c:showBubbleSize val="0"/>
        </c:dLbls>
        <c:gapWidth val="219"/>
        <c:overlap val="-27"/>
        <c:axId val="1909317408"/>
        <c:axId val="1904576448"/>
      </c:barChart>
      <c:catAx>
        <c:axId val="1909317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904576448"/>
        <c:crosses val="autoZero"/>
        <c:auto val="1"/>
        <c:lblAlgn val="ctr"/>
        <c:lblOffset val="100"/>
        <c:noMultiLvlLbl val="0"/>
      </c:catAx>
      <c:valAx>
        <c:axId val="1904576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9093174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800"/>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en-US" sz="2400"/>
              <a:t>Modelling Results - Accuracy Score</a:t>
            </a:r>
          </a:p>
        </c:rich>
      </c:tx>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6"/>
            </a:solidFill>
            <a:ln>
              <a:noFill/>
            </a:ln>
            <a:effectLst/>
          </c:spPr>
          <c:invertIfNegative val="0"/>
          <c:cat>
            <c:strRef>
              <c:f>Sheet1!$C$5:$F$5</c:f>
              <c:strCache>
                <c:ptCount val="4"/>
                <c:pt idx="0">
                  <c:v>Baseline</c:v>
                </c:pt>
                <c:pt idx="1">
                  <c:v>GNB CV</c:v>
                </c:pt>
                <c:pt idx="2">
                  <c:v>Decision Tree</c:v>
                </c:pt>
                <c:pt idx="3">
                  <c:v>Random Forest CV</c:v>
                </c:pt>
              </c:strCache>
            </c:strRef>
          </c:cat>
          <c:val>
            <c:numRef>
              <c:f>Sheet1!$C$6:$F$6</c:f>
              <c:numCache>
                <c:formatCode>General</c:formatCode>
                <c:ptCount val="4"/>
                <c:pt idx="0">
                  <c:v>0.27800000000000002</c:v>
                </c:pt>
                <c:pt idx="1">
                  <c:v>0.50649999999999995</c:v>
                </c:pt>
                <c:pt idx="2">
                  <c:v>0.52300000000000002</c:v>
                </c:pt>
                <c:pt idx="3">
                  <c:v>0.56699999999999995</c:v>
                </c:pt>
              </c:numCache>
            </c:numRef>
          </c:val>
          <c:extLst>
            <c:ext xmlns:c16="http://schemas.microsoft.com/office/drawing/2014/chart" uri="{C3380CC4-5D6E-409C-BE32-E72D297353CC}">
              <c16:uniqueId val="{00000000-BB8A-8F48-B14D-4A98B8AF2138}"/>
            </c:ext>
          </c:extLst>
        </c:ser>
        <c:dLbls>
          <c:showLegendKey val="0"/>
          <c:showVal val="0"/>
          <c:showCatName val="0"/>
          <c:showSerName val="0"/>
          <c:showPercent val="0"/>
          <c:showBubbleSize val="0"/>
        </c:dLbls>
        <c:gapWidth val="219"/>
        <c:overlap val="-27"/>
        <c:axId val="1909317408"/>
        <c:axId val="1904576448"/>
      </c:barChart>
      <c:catAx>
        <c:axId val="1909317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904576448"/>
        <c:crosses val="autoZero"/>
        <c:auto val="1"/>
        <c:lblAlgn val="ctr"/>
        <c:lblOffset val="100"/>
        <c:noMultiLvlLbl val="0"/>
      </c:catAx>
      <c:valAx>
        <c:axId val="1904576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9093174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800"/>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B0C2FC-109F-754F-B003-10629755D5F4}" type="datetimeFigureOut">
              <a:rPr lang="en-US" smtClean="0"/>
              <a:t>4/12/19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A0221E-A088-B04C-843E-E465432BBF89}" type="slidenum">
              <a:rPr lang="en-US" smtClean="0"/>
              <a:t>‹#›</a:t>
            </a:fld>
            <a:endParaRPr lang="en-US"/>
          </a:p>
        </p:txBody>
      </p:sp>
    </p:spTree>
    <p:extLst>
      <p:ext uri="{BB962C8B-B14F-4D97-AF65-F5344CB8AC3E}">
        <p14:creationId xmlns:p14="http://schemas.microsoft.com/office/powerpoint/2010/main" val="2544792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aims</a:t>
            </a:r>
          </a:p>
          <a:p>
            <a:endParaRPr lang="en-US" dirty="0"/>
          </a:p>
          <a:p>
            <a:r>
              <a:rPr lang="en-US" dirty="0"/>
              <a:t>Project not in any way affiliated with </a:t>
            </a:r>
            <a:r>
              <a:rPr lang="en-US" dirty="0" err="1"/>
              <a:t>Seek.com.au</a:t>
            </a:r>
            <a:r>
              <a:rPr lang="en-US" dirty="0"/>
              <a:t>, this was just the source of data by scraping publicly available web pages</a:t>
            </a:r>
          </a:p>
        </p:txBody>
      </p:sp>
      <p:sp>
        <p:nvSpPr>
          <p:cNvPr id="4" name="Slide Number Placeholder 3"/>
          <p:cNvSpPr>
            <a:spLocks noGrp="1"/>
          </p:cNvSpPr>
          <p:nvPr>
            <p:ph type="sldNum" sz="quarter" idx="5"/>
          </p:nvPr>
        </p:nvSpPr>
        <p:spPr/>
        <p:txBody>
          <a:bodyPr/>
          <a:lstStyle/>
          <a:p>
            <a:fld id="{66A0221E-A088-B04C-843E-E465432BBF89}" type="slidenum">
              <a:rPr lang="en-US" smtClean="0"/>
              <a:t>1</a:t>
            </a:fld>
            <a:endParaRPr lang="en-US"/>
          </a:p>
        </p:txBody>
      </p:sp>
    </p:spTree>
    <p:extLst>
      <p:ext uri="{BB962C8B-B14F-4D97-AF65-F5344CB8AC3E}">
        <p14:creationId xmlns:p14="http://schemas.microsoft.com/office/powerpoint/2010/main" val="2557446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Overview of data scraped from </a:t>
            </a:r>
            <a:r>
              <a:rPr lang="en-US" sz="1200" dirty="0" err="1"/>
              <a:t>Seek.com.au</a:t>
            </a:r>
            <a:endParaRPr lang="en-US" sz="1200" dirty="0"/>
          </a:p>
          <a:p>
            <a:endParaRPr lang="en-US" sz="1200" dirty="0"/>
          </a:p>
          <a:p>
            <a:r>
              <a:rPr lang="en-US" sz="1200" dirty="0"/>
              <a:t>Data was scraped with model runs on 3 separate dates over a period of about 3 weeks</a:t>
            </a:r>
          </a:p>
        </p:txBody>
      </p:sp>
      <p:sp>
        <p:nvSpPr>
          <p:cNvPr id="4" name="Slide Number Placeholder 3"/>
          <p:cNvSpPr>
            <a:spLocks noGrp="1"/>
          </p:cNvSpPr>
          <p:nvPr>
            <p:ph type="sldNum" sz="quarter" idx="5"/>
          </p:nvPr>
        </p:nvSpPr>
        <p:spPr/>
        <p:txBody>
          <a:bodyPr/>
          <a:lstStyle/>
          <a:p>
            <a:fld id="{66A0221E-A088-B04C-843E-E465432BBF89}" type="slidenum">
              <a:rPr lang="en-US" smtClean="0"/>
              <a:t>2</a:t>
            </a:fld>
            <a:endParaRPr lang="en-US"/>
          </a:p>
        </p:txBody>
      </p:sp>
    </p:spTree>
    <p:extLst>
      <p:ext uri="{BB962C8B-B14F-4D97-AF65-F5344CB8AC3E}">
        <p14:creationId xmlns:p14="http://schemas.microsoft.com/office/powerpoint/2010/main" val="3241547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of work process. Data preparation stage took by far the most amount of time. Process was not entirely linear, involved iteration, checking results and reworking at many steps. </a:t>
            </a:r>
          </a:p>
          <a:p>
            <a:r>
              <a:rPr lang="en-US" dirty="0"/>
              <a:t>The following slides highlight several major feature engineering steps taken, followed by modelling results. </a:t>
            </a:r>
          </a:p>
        </p:txBody>
      </p:sp>
      <p:sp>
        <p:nvSpPr>
          <p:cNvPr id="4" name="Slide Number Placeholder 3"/>
          <p:cNvSpPr>
            <a:spLocks noGrp="1"/>
          </p:cNvSpPr>
          <p:nvPr>
            <p:ph type="sldNum" sz="quarter" idx="5"/>
          </p:nvPr>
        </p:nvSpPr>
        <p:spPr/>
        <p:txBody>
          <a:bodyPr/>
          <a:lstStyle/>
          <a:p>
            <a:fld id="{66A0221E-A088-B04C-843E-E465432BBF89}" type="slidenum">
              <a:rPr lang="en-US" smtClean="0"/>
              <a:t>3</a:t>
            </a:fld>
            <a:endParaRPr lang="en-US"/>
          </a:p>
        </p:txBody>
      </p:sp>
    </p:spTree>
    <p:extLst>
      <p:ext uri="{BB962C8B-B14F-4D97-AF65-F5344CB8AC3E}">
        <p14:creationId xmlns:p14="http://schemas.microsoft.com/office/powerpoint/2010/main" val="4173823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which bigrams to include as model features was a difficult call to make. These are the top 16 bigrams from job description text, which appear to be so generic as to not contain much meaningful information that would be a predictor of salary.</a:t>
            </a:r>
          </a:p>
          <a:p>
            <a:endParaRPr lang="en-US" dirty="0"/>
          </a:p>
        </p:txBody>
      </p:sp>
      <p:sp>
        <p:nvSpPr>
          <p:cNvPr id="4" name="Slide Number Placeholder 3"/>
          <p:cNvSpPr>
            <a:spLocks noGrp="1"/>
          </p:cNvSpPr>
          <p:nvPr>
            <p:ph type="sldNum" sz="quarter" idx="5"/>
          </p:nvPr>
        </p:nvSpPr>
        <p:spPr/>
        <p:txBody>
          <a:bodyPr/>
          <a:lstStyle/>
          <a:p>
            <a:fld id="{66A0221E-A088-B04C-843E-E465432BBF89}" type="slidenum">
              <a:rPr lang="en-US" smtClean="0"/>
              <a:t>4</a:t>
            </a:fld>
            <a:endParaRPr lang="en-US"/>
          </a:p>
        </p:txBody>
      </p:sp>
    </p:spTree>
    <p:extLst>
      <p:ext uri="{BB962C8B-B14F-4D97-AF65-F5344CB8AC3E}">
        <p14:creationId xmlns:p14="http://schemas.microsoft.com/office/powerpoint/2010/main" val="3703205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shows Job </a:t>
            </a:r>
            <a:r>
              <a:rPr lang="en-US" u="sng" dirty="0"/>
              <a:t>Description</a:t>
            </a:r>
            <a:r>
              <a:rPr lang="en-US" dirty="0"/>
              <a:t> bigrams ranked by likelihood score (frequency of occurrence in entire corpus). Made a judgement call to not include most frequent bigrams (or very infrequent) – red line shows the selected bigrams covering the ‘elbow’ of the graph. Ideally given more time could test impact of including more or less.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Chosen bigrams were find-replaced for each job description, which was then later fed into TFIDF vectorizer (term frequency-inverse document frequency) to identify most important bigrams weighted by frequency and uniqueness.</a:t>
            </a:r>
          </a:p>
        </p:txBody>
      </p:sp>
      <p:sp>
        <p:nvSpPr>
          <p:cNvPr id="4" name="Slide Number Placeholder 3"/>
          <p:cNvSpPr>
            <a:spLocks noGrp="1"/>
          </p:cNvSpPr>
          <p:nvPr>
            <p:ph type="sldNum" sz="quarter" idx="5"/>
          </p:nvPr>
        </p:nvSpPr>
        <p:spPr/>
        <p:txBody>
          <a:bodyPr/>
          <a:lstStyle/>
          <a:p>
            <a:fld id="{66A0221E-A088-B04C-843E-E465432BBF89}" type="slidenum">
              <a:rPr lang="en-US" smtClean="0"/>
              <a:t>5</a:t>
            </a:fld>
            <a:endParaRPr lang="en-US"/>
          </a:p>
        </p:txBody>
      </p:sp>
    </p:spTree>
    <p:extLst>
      <p:ext uri="{BB962C8B-B14F-4D97-AF65-F5344CB8AC3E}">
        <p14:creationId xmlns:p14="http://schemas.microsoft.com/office/powerpoint/2010/main" val="37757663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 graphs to previous but data is bigrams from Job </a:t>
            </a:r>
            <a:r>
              <a:rPr lang="en-US" u="sng" dirty="0"/>
              <a:t>Title</a:t>
            </a:r>
            <a:r>
              <a:rPr lang="en-US" dirty="0"/>
              <a:t> text (not Description). Number 1 ranked bigram is ‘business analyst’ at score 3568, next bigram occurs at 575, hence zoomed-in graph on right. Chose top 396 bigrams (those with scores &gt; 40)</a:t>
            </a:r>
          </a:p>
        </p:txBody>
      </p:sp>
      <p:sp>
        <p:nvSpPr>
          <p:cNvPr id="4" name="Slide Number Placeholder 3"/>
          <p:cNvSpPr>
            <a:spLocks noGrp="1"/>
          </p:cNvSpPr>
          <p:nvPr>
            <p:ph type="sldNum" sz="quarter" idx="5"/>
          </p:nvPr>
        </p:nvSpPr>
        <p:spPr/>
        <p:txBody>
          <a:bodyPr/>
          <a:lstStyle/>
          <a:p>
            <a:fld id="{66A0221E-A088-B04C-843E-E465432BBF89}" type="slidenum">
              <a:rPr lang="en-US" smtClean="0"/>
              <a:t>6</a:t>
            </a:fld>
            <a:endParaRPr lang="en-US"/>
          </a:p>
        </p:txBody>
      </p:sp>
    </p:spTree>
    <p:extLst>
      <p:ext uri="{BB962C8B-B14F-4D97-AF65-F5344CB8AC3E}">
        <p14:creationId xmlns:p14="http://schemas.microsoft.com/office/powerpoint/2010/main" val="1661704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Trigrams for the job descriptions seemed less useful – many different combinations of over-represented bigrams (e.g. ‘business analyst’) with other various words.</a:t>
            </a:r>
          </a:p>
        </p:txBody>
      </p:sp>
      <p:sp>
        <p:nvSpPr>
          <p:cNvPr id="4" name="Slide Number Placeholder 3"/>
          <p:cNvSpPr>
            <a:spLocks noGrp="1"/>
          </p:cNvSpPr>
          <p:nvPr>
            <p:ph type="sldNum" sz="quarter" idx="5"/>
          </p:nvPr>
        </p:nvSpPr>
        <p:spPr/>
        <p:txBody>
          <a:bodyPr/>
          <a:lstStyle/>
          <a:p>
            <a:fld id="{66A0221E-A088-B04C-843E-E465432BBF89}" type="slidenum">
              <a:rPr lang="en-US" smtClean="0"/>
              <a:t>7</a:t>
            </a:fld>
            <a:endParaRPr lang="en-US"/>
          </a:p>
        </p:txBody>
      </p:sp>
    </p:spTree>
    <p:extLst>
      <p:ext uri="{BB962C8B-B14F-4D97-AF65-F5344CB8AC3E}">
        <p14:creationId xmlns:p14="http://schemas.microsoft.com/office/powerpoint/2010/main" val="17874863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closer at the ranked trigrams, the vast majority of the top 20,000 trigrams appear to be variations of one other word combined with the top half a dozen or so bigrams as shown here. Therefore it was decided not to include trigrams as for this text corpus they seemed to further spread out and dilute the meaning of bigrams that are already not very useful. </a:t>
            </a:r>
          </a:p>
          <a:p>
            <a:endParaRPr lang="en-US" dirty="0"/>
          </a:p>
          <a:p>
            <a:r>
              <a:rPr lang="en-US" dirty="0"/>
              <a:t>No actual empirical testing was done to check the impact of this – with more time I would like to but had to make a judgement call. </a:t>
            </a:r>
          </a:p>
        </p:txBody>
      </p:sp>
      <p:sp>
        <p:nvSpPr>
          <p:cNvPr id="4" name="Slide Number Placeholder 3"/>
          <p:cNvSpPr>
            <a:spLocks noGrp="1"/>
          </p:cNvSpPr>
          <p:nvPr>
            <p:ph type="sldNum" sz="quarter" idx="5"/>
          </p:nvPr>
        </p:nvSpPr>
        <p:spPr/>
        <p:txBody>
          <a:bodyPr/>
          <a:lstStyle/>
          <a:p>
            <a:fld id="{66A0221E-A088-B04C-843E-E465432BBF89}" type="slidenum">
              <a:rPr lang="en-US" smtClean="0"/>
              <a:t>8</a:t>
            </a:fld>
            <a:endParaRPr lang="en-US"/>
          </a:p>
        </p:txBody>
      </p:sp>
    </p:spTree>
    <p:extLst>
      <p:ext uri="{BB962C8B-B14F-4D97-AF65-F5344CB8AC3E}">
        <p14:creationId xmlns:p14="http://schemas.microsoft.com/office/powerpoint/2010/main" val="2148427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Latent Dirichlet Allocation (LDA) was use to identify clusters of words occurring together in the corpus to form topics. Results changed on each iteration of the model fitting to the data with varying results. Increasing the number of topics lead some larger topics splitting into two or more similar and slightly redundant topics, but also identified more smaller topics that had genuine differences – shown here by the smaller scattered topics numbered 14-23 on the right of the graph. Examples include mining, health/medical research, cybersecurity, and trade apprenticeship / machinery operator jobs which are useful to separate out, likely picked up from the ‘machine learning’ keyword search. </a:t>
            </a:r>
          </a:p>
        </p:txBody>
      </p:sp>
      <p:sp>
        <p:nvSpPr>
          <p:cNvPr id="4" name="Slide Number Placeholder 3"/>
          <p:cNvSpPr>
            <a:spLocks noGrp="1"/>
          </p:cNvSpPr>
          <p:nvPr>
            <p:ph type="sldNum" sz="quarter" idx="5"/>
          </p:nvPr>
        </p:nvSpPr>
        <p:spPr/>
        <p:txBody>
          <a:bodyPr/>
          <a:lstStyle/>
          <a:p>
            <a:fld id="{66A0221E-A088-B04C-843E-E465432BBF89}" type="slidenum">
              <a:rPr lang="en-US" smtClean="0"/>
              <a:t>9</a:t>
            </a:fld>
            <a:endParaRPr lang="en-US"/>
          </a:p>
        </p:txBody>
      </p:sp>
    </p:spTree>
    <p:extLst>
      <p:ext uri="{BB962C8B-B14F-4D97-AF65-F5344CB8AC3E}">
        <p14:creationId xmlns:p14="http://schemas.microsoft.com/office/powerpoint/2010/main" val="971261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 all of these features into several machine learning models </a:t>
            </a:r>
          </a:p>
        </p:txBody>
      </p:sp>
      <p:sp>
        <p:nvSpPr>
          <p:cNvPr id="4" name="Slide Number Placeholder 3"/>
          <p:cNvSpPr>
            <a:spLocks noGrp="1"/>
          </p:cNvSpPr>
          <p:nvPr>
            <p:ph type="sldNum" sz="quarter" idx="5"/>
          </p:nvPr>
        </p:nvSpPr>
        <p:spPr/>
        <p:txBody>
          <a:bodyPr/>
          <a:lstStyle/>
          <a:p>
            <a:fld id="{66A0221E-A088-B04C-843E-E465432BBF89}" type="slidenum">
              <a:rPr lang="en-US" smtClean="0"/>
              <a:t>10</a:t>
            </a:fld>
            <a:endParaRPr lang="en-US"/>
          </a:p>
        </p:txBody>
      </p:sp>
    </p:spTree>
    <p:extLst>
      <p:ext uri="{BB962C8B-B14F-4D97-AF65-F5344CB8AC3E}">
        <p14:creationId xmlns:p14="http://schemas.microsoft.com/office/powerpoint/2010/main" val="2413135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Salaries for jobs that had them posted were target variable for machine learning models. Left histogram is raw data, which for the purposes of predicting were binned into 4 categories for simplification. </a:t>
            </a:r>
          </a:p>
        </p:txBody>
      </p:sp>
      <p:sp>
        <p:nvSpPr>
          <p:cNvPr id="4" name="Slide Number Placeholder 3"/>
          <p:cNvSpPr>
            <a:spLocks noGrp="1"/>
          </p:cNvSpPr>
          <p:nvPr>
            <p:ph type="sldNum" sz="quarter" idx="5"/>
          </p:nvPr>
        </p:nvSpPr>
        <p:spPr/>
        <p:txBody>
          <a:bodyPr/>
          <a:lstStyle/>
          <a:p>
            <a:fld id="{66A0221E-A088-B04C-843E-E465432BBF89}" type="slidenum">
              <a:rPr lang="en-US" smtClean="0"/>
              <a:t>11</a:t>
            </a:fld>
            <a:endParaRPr lang="en-US"/>
          </a:p>
        </p:txBody>
      </p:sp>
    </p:spTree>
    <p:extLst>
      <p:ext uri="{BB962C8B-B14F-4D97-AF65-F5344CB8AC3E}">
        <p14:creationId xmlns:p14="http://schemas.microsoft.com/office/powerpoint/2010/main" val="298949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Gaussian Naïve Bayes, Decision Tree and Random Forest were all applied to the dataset. Baseline comparison is highest occurring salary range of the 4 bins, at 28%. </a:t>
            </a:r>
          </a:p>
          <a:p>
            <a:r>
              <a:rPr lang="en-US" dirty="0"/>
              <a:t>Highest accuracy model was Random Forest at 56%. Some </a:t>
            </a:r>
            <a:r>
              <a:rPr lang="en-US" dirty="0" err="1"/>
              <a:t>gridsearching</a:t>
            </a:r>
            <a:r>
              <a:rPr lang="en-US" dirty="0"/>
              <a:t> was done on Random Forest, which preferred a max depth = 20 with 40 individual estimators. </a:t>
            </a:r>
          </a:p>
          <a:p>
            <a:r>
              <a:rPr lang="en-US" dirty="0"/>
              <a:t>Obviously this accuracy score is not particularly outstanding. </a:t>
            </a:r>
          </a:p>
        </p:txBody>
      </p:sp>
      <p:sp>
        <p:nvSpPr>
          <p:cNvPr id="4" name="Slide Number Placeholder 3"/>
          <p:cNvSpPr>
            <a:spLocks noGrp="1"/>
          </p:cNvSpPr>
          <p:nvPr>
            <p:ph type="sldNum" sz="quarter" idx="5"/>
          </p:nvPr>
        </p:nvSpPr>
        <p:spPr/>
        <p:txBody>
          <a:bodyPr/>
          <a:lstStyle/>
          <a:p>
            <a:fld id="{66A0221E-A088-B04C-843E-E465432BBF89}" type="slidenum">
              <a:rPr lang="en-US" smtClean="0"/>
              <a:t>12</a:t>
            </a:fld>
            <a:endParaRPr lang="en-US"/>
          </a:p>
        </p:txBody>
      </p:sp>
    </p:spTree>
    <p:extLst>
      <p:ext uri="{BB962C8B-B14F-4D97-AF65-F5344CB8AC3E}">
        <p14:creationId xmlns:p14="http://schemas.microsoft.com/office/powerpoint/2010/main" val="37632987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Random Forest feature importance score ranks each feature by how relevant it was for the model’s decision process. Out of the almost 150,000 features fed in, only the top few hundred were ranked as important by the model. A word cloud on the following slide gives an idea of the most important individual features</a:t>
            </a:r>
          </a:p>
        </p:txBody>
      </p:sp>
      <p:sp>
        <p:nvSpPr>
          <p:cNvPr id="4" name="Slide Number Placeholder 3"/>
          <p:cNvSpPr>
            <a:spLocks noGrp="1"/>
          </p:cNvSpPr>
          <p:nvPr>
            <p:ph type="sldNum" sz="quarter" idx="5"/>
          </p:nvPr>
        </p:nvSpPr>
        <p:spPr/>
        <p:txBody>
          <a:bodyPr/>
          <a:lstStyle/>
          <a:p>
            <a:fld id="{66A0221E-A088-B04C-843E-E465432BBF89}" type="slidenum">
              <a:rPr lang="en-US" smtClean="0"/>
              <a:t>13</a:t>
            </a:fld>
            <a:endParaRPr lang="en-US"/>
          </a:p>
        </p:txBody>
      </p:sp>
    </p:spTree>
    <p:extLst>
      <p:ext uri="{BB962C8B-B14F-4D97-AF65-F5344CB8AC3E}">
        <p14:creationId xmlns:p14="http://schemas.microsoft.com/office/powerpoint/2010/main" val="4189209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Prefix </a:t>
            </a:r>
            <a:r>
              <a:rPr lang="en-US" dirty="0" err="1"/>
              <a:t>lda</a:t>
            </a:r>
            <a:r>
              <a:rPr lang="en-US" dirty="0"/>
              <a:t>_.......... refers to LDA topics, with words summarizing the topic meaning joined by hyphens, manually interpreted by myself</a:t>
            </a:r>
          </a:p>
          <a:p>
            <a:r>
              <a:rPr lang="en-US" dirty="0"/>
              <a:t>Prefix d_........... refers to individual </a:t>
            </a:r>
            <a:r>
              <a:rPr lang="en-US" dirty="0" err="1"/>
              <a:t>ngrams</a:t>
            </a:r>
            <a:r>
              <a:rPr lang="en-US" dirty="0"/>
              <a:t> (either single words or bigrams) from job descriptions, with the feature column ranking each document’s TFIDF score for this </a:t>
            </a:r>
            <a:r>
              <a:rPr lang="en-US" dirty="0" err="1"/>
              <a:t>ngram</a:t>
            </a:r>
            <a:endParaRPr lang="en-US" dirty="0"/>
          </a:p>
          <a:p>
            <a:r>
              <a:rPr lang="en-US" dirty="0"/>
              <a:t>Words joined by underscore (e.g. “</a:t>
            </a:r>
            <a:r>
              <a:rPr lang="en-US" dirty="0" err="1"/>
              <a:t>attention_detail</a:t>
            </a:r>
            <a:r>
              <a:rPr lang="en-US" dirty="0"/>
              <a:t>” are a bigram</a:t>
            </a:r>
          </a:p>
          <a:p>
            <a:r>
              <a:rPr lang="en-US" dirty="0"/>
              <a:t>Several words separated by spaces (“Information &amp; Communication Technology”) are job classifications as per </a:t>
            </a:r>
            <a:r>
              <a:rPr lang="en-US" dirty="0" err="1"/>
              <a:t>Seek.com</a:t>
            </a:r>
            <a:r>
              <a:rPr lang="en-US" dirty="0"/>
              <a:t> format</a:t>
            </a:r>
          </a:p>
          <a:p>
            <a:r>
              <a:rPr lang="en-US" dirty="0"/>
              <a:t>Prefix t_......... would refer to job title </a:t>
            </a:r>
            <a:r>
              <a:rPr lang="en-US" dirty="0" err="1"/>
              <a:t>ngrams</a:t>
            </a:r>
            <a:r>
              <a:rPr lang="en-US" dirty="0"/>
              <a:t> but these did not turn out to be significant in the model</a:t>
            </a:r>
          </a:p>
        </p:txBody>
      </p:sp>
      <p:sp>
        <p:nvSpPr>
          <p:cNvPr id="4" name="Slide Number Placeholder 3"/>
          <p:cNvSpPr>
            <a:spLocks noGrp="1"/>
          </p:cNvSpPr>
          <p:nvPr>
            <p:ph type="sldNum" sz="quarter" idx="5"/>
          </p:nvPr>
        </p:nvSpPr>
        <p:spPr/>
        <p:txBody>
          <a:bodyPr/>
          <a:lstStyle/>
          <a:p>
            <a:fld id="{66A0221E-A088-B04C-843E-E465432BBF89}" type="slidenum">
              <a:rPr lang="en-US" smtClean="0"/>
              <a:t>14</a:t>
            </a:fld>
            <a:endParaRPr lang="en-US"/>
          </a:p>
        </p:txBody>
      </p:sp>
    </p:spTree>
    <p:extLst>
      <p:ext uri="{BB962C8B-B14F-4D97-AF65-F5344CB8AC3E}">
        <p14:creationId xmlns:p14="http://schemas.microsoft.com/office/powerpoint/2010/main" val="2848800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 </a:t>
            </a:r>
            <a:r>
              <a:rPr lang="en-US" dirty="0" err="1"/>
              <a:t>importances</a:t>
            </a:r>
            <a:r>
              <a:rPr lang="en-US" dirty="0"/>
              <a:t> were further </a:t>
            </a:r>
            <a:r>
              <a:rPr lang="en-US" dirty="0" err="1"/>
              <a:t>analysed</a:t>
            </a:r>
            <a:r>
              <a:rPr lang="en-US" dirty="0"/>
              <a:t> by looking at how important each of the various classes of features that were fed to the model. </a:t>
            </a:r>
          </a:p>
          <a:p>
            <a:r>
              <a:rPr lang="en-US" dirty="0"/>
              <a:t>Note that ‘job title’ refers to single word tokens from job title text, whereas ‘title-</a:t>
            </a:r>
            <a:r>
              <a:rPr lang="en-US" dirty="0" err="1"/>
              <a:t>Ngram</a:t>
            </a:r>
            <a:r>
              <a:rPr lang="en-US" dirty="0"/>
              <a:t>’ refers to bigrams from the job title text, both features classes are TFIDF scores but for the purpose of this analysis were split into single and bigrams. Same for ‘job description’ vs ‘</a:t>
            </a:r>
            <a:r>
              <a:rPr lang="en-US" dirty="0" err="1"/>
              <a:t>desc-Ngram</a:t>
            </a:r>
            <a:r>
              <a:rPr lang="en-US" dirty="0"/>
              <a:t>’</a:t>
            </a:r>
          </a:p>
          <a:p>
            <a:endParaRPr lang="en-US" dirty="0"/>
          </a:p>
          <a:p>
            <a:r>
              <a:rPr lang="en-US" dirty="0"/>
              <a:t>Graphs on left is raw sum of importance scores. However this is not so useful – most obviously the sheer number of job description single word tokens gives the impression that these are the most important, but this is not the case. More meaningful metric is the average score for each feature class – further filtered down to only divide the total score by the number of features in each class that actually had a score greater than zero. </a:t>
            </a:r>
          </a:p>
          <a:p>
            <a:endParaRPr lang="en-US" dirty="0"/>
          </a:p>
          <a:p>
            <a:r>
              <a:rPr lang="en-US" dirty="0"/>
              <a:t>This average score is in the right graph, and shows that the LDA topics were by far the most important features, followed by </a:t>
            </a:r>
            <a:r>
              <a:rPr lang="en-US" dirty="0" err="1"/>
              <a:t>Seek.com</a:t>
            </a:r>
            <a:r>
              <a:rPr lang="en-US" dirty="0"/>
              <a:t> job classification, location, with bigram and single word tokens among the least important features. </a:t>
            </a:r>
          </a:p>
        </p:txBody>
      </p:sp>
      <p:sp>
        <p:nvSpPr>
          <p:cNvPr id="4" name="Slide Number Placeholder 3"/>
          <p:cNvSpPr>
            <a:spLocks noGrp="1"/>
          </p:cNvSpPr>
          <p:nvPr>
            <p:ph type="sldNum" sz="quarter" idx="5"/>
          </p:nvPr>
        </p:nvSpPr>
        <p:spPr/>
        <p:txBody>
          <a:bodyPr/>
          <a:lstStyle/>
          <a:p>
            <a:fld id="{66A0221E-A088-B04C-843E-E465432BBF89}" type="slidenum">
              <a:rPr lang="en-US" smtClean="0"/>
              <a:t>15</a:t>
            </a:fld>
            <a:endParaRPr lang="en-US"/>
          </a:p>
        </p:txBody>
      </p:sp>
    </p:spTree>
    <p:extLst>
      <p:ext uri="{BB962C8B-B14F-4D97-AF65-F5344CB8AC3E}">
        <p14:creationId xmlns:p14="http://schemas.microsoft.com/office/powerpoint/2010/main" val="36158679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Ideas for further efforts that could be taken to improve model accuracy</a:t>
            </a:r>
          </a:p>
          <a:p>
            <a:endParaRPr lang="en-US" dirty="0"/>
          </a:p>
          <a:p>
            <a:r>
              <a:rPr lang="en-US" dirty="0"/>
              <a:t>LDA topics in particular are very interesting and promising, but through a number of iterations in the feature engineering process, it appears that the random nature of its initial seeding and separating topics commonly leads to a different mix of useful and less useful topics every time the LDA process is run. Would like to learn more about this process and ways to improve its output. </a:t>
            </a:r>
          </a:p>
        </p:txBody>
      </p:sp>
      <p:sp>
        <p:nvSpPr>
          <p:cNvPr id="4" name="Slide Number Placeholder 3"/>
          <p:cNvSpPr>
            <a:spLocks noGrp="1"/>
          </p:cNvSpPr>
          <p:nvPr>
            <p:ph type="sldNum" sz="quarter" idx="5"/>
          </p:nvPr>
        </p:nvSpPr>
        <p:spPr/>
        <p:txBody>
          <a:bodyPr/>
          <a:lstStyle/>
          <a:p>
            <a:fld id="{66A0221E-A088-B04C-843E-E465432BBF89}" type="slidenum">
              <a:rPr lang="en-US" smtClean="0"/>
              <a:t>16</a:t>
            </a:fld>
            <a:endParaRPr lang="en-US"/>
          </a:p>
        </p:txBody>
      </p:sp>
    </p:spTree>
    <p:extLst>
      <p:ext uri="{BB962C8B-B14F-4D97-AF65-F5344CB8AC3E}">
        <p14:creationId xmlns:p14="http://schemas.microsoft.com/office/powerpoint/2010/main" val="213552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4/12/19</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4/12/19</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4/12/19</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4/12/19</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4/12/19</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4/12/19</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4/12/19</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4/12/19</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4/12/19</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4/12/19</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4/12/19</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Eigth level</a:t>
            </a:r>
          </a:p>
          <a:p>
            <a:pPr lvl="8"/>
            <a:r>
              <a:rPr lang="en-US" dirty="0"/>
              <a:t>Ninth level</a:t>
            </a:r>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4/12/19</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5383D-3AE7-2540-9F8D-2D631E1A4DDA}"/>
              </a:ext>
            </a:extLst>
          </p:cNvPr>
          <p:cNvSpPr>
            <a:spLocks noGrp="1"/>
          </p:cNvSpPr>
          <p:nvPr>
            <p:ph type="ctrTitle"/>
          </p:nvPr>
        </p:nvSpPr>
        <p:spPr>
          <a:xfrm>
            <a:off x="1285103" y="382104"/>
            <a:ext cx="7190157" cy="1426727"/>
          </a:xfrm>
        </p:spPr>
        <p:txBody>
          <a:bodyPr>
            <a:noAutofit/>
          </a:bodyPr>
          <a:lstStyle/>
          <a:p>
            <a:pPr algn="ctr"/>
            <a:r>
              <a:rPr lang="en-US" sz="4000" dirty="0"/>
              <a:t>Natural Language Processing on data science job advertisements</a:t>
            </a:r>
          </a:p>
        </p:txBody>
      </p:sp>
      <p:sp>
        <p:nvSpPr>
          <p:cNvPr id="3" name="Subtitle 2">
            <a:extLst>
              <a:ext uri="{FF2B5EF4-FFF2-40B4-BE49-F238E27FC236}">
                <a16:creationId xmlns:a16="http://schemas.microsoft.com/office/drawing/2014/main" id="{045C4A21-1E19-024C-8EFC-BD89E4D6F767}"/>
              </a:ext>
            </a:extLst>
          </p:cNvPr>
          <p:cNvSpPr>
            <a:spLocks noGrp="1"/>
          </p:cNvSpPr>
          <p:nvPr>
            <p:ph type="subTitle" idx="1"/>
          </p:nvPr>
        </p:nvSpPr>
        <p:spPr>
          <a:xfrm>
            <a:off x="6551794" y="5577623"/>
            <a:ext cx="5357600" cy="1160213"/>
          </a:xfrm>
        </p:spPr>
        <p:txBody>
          <a:bodyPr/>
          <a:lstStyle/>
          <a:p>
            <a:r>
              <a:rPr lang="en-US" dirty="0">
                <a:solidFill>
                  <a:schemeClr val="bg1"/>
                </a:solidFill>
              </a:rPr>
              <a:t>Patrick Hearps</a:t>
            </a:r>
          </a:p>
        </p:txBody>
      </p:sp>
      <p:grpSp>
        <p:nvGrpSpPr>
          <p:cNvPr id="11" name="Group 10">
            <a:extLst>
              <a:ext uri="{FF2B5EF4-FFF2-40B4-BE49-F238E27FC236}">
                <a16:creationId xmlns:a16="http://schemas.microsoft.com/office/drawing/2014/main" id="{F01CFE38-5C08-AB4B-B1E0-4844E267D10A}"/>
              </a:ext>
            </a:extLst>
          </p:cNvPr>
          <p:cNvGrpSpPr/>
          <p:nvPr/>
        </p:nvGrpSpPr>
        <p:grpSpPr>
          <a:xfrm>
            <a:off x="2656114" y="5315683"/>
            <a:ext cx="4309660" cy="1160213"/>
            <a:chOff x="5250134" y="4356406"/>
            <a:chExt cx="5673462" cy="1527366"/>
          </a:xfrm>
        </p:grpSpPr>
        <p:sp>
          <p:nvSpPr>
            <p:cNvPr id="10" name="Rectangle 9">
              <a:extLst>
                <a:ext uri="{FF2B5EF4-FFF2-40B4-BE49-F238E27FC236}">
                  <a16:creationId xmlns:a16="http://schemas.microsoft.com/office/drawing/2014/main" id="{B67C8743-3F2F-4A4D-B25D-9604DB5AEC29}"/>
                </a:ext>
              </a:extLst>
            </p:cNvPr>
            <p:cNvSpPr/>
            <p:nvPr/>
          </p:nvSpPr>
          <p:spPr>
            <a:xfrm>
              <a:off x="5250134" y="4356406"/>
              <a:ext cx="5673462" cy="152736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age result for seek.com.au logo">
              <a:extLst>
                <a:ext uri="{FF2B5EF4-FFF2-40B4-BE49-F238E27FC236}">
                  <a16:creationId xmlns:a16="http://schemas.microsoft.com/office/drawing/2014/main" id="{D4F1FD69-3720-4349-A4A4-175D949245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7636" y="4608309"/>
              <a:ext cx="5004103" cy="1067389"/>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Title 1">
            <a:extLst>
              <a:ext uri="{FF2B5EF4-FFF2-40B4-BE49-F238E27FC236}">
                <a16:creationId xmlns:a16="http://schemas.microsoft.com/office/drawing/2014/main" id="{93D82AAA-19FB-8844-A684-2F41776B2084}"/>
              </a:ext>
            </a:extLst>
          </p:cNvPr>
          <p:cNvSpPr txBox="1">
            <a:spLocks/>
          </p:cNvSpPr>
          <p:nvPr/>
        </p:nvSpPr>
        <p:spPr>
          <a:xfrm>
            <a:off x="1153805" y="2841368"/>
            <a:ext cx="8027361" cy="180592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6000" b="0" i="0" kern="1200" cap="none">
                <a:solidFill>
                  <a:schemeClr val="tx1"/>
                </a:solidFill>
                <a:effectLst/>
                <a:latin typeface="+mj-lt"/>
                <a:ea typeface="+mj-ea"/>
                <a:cs typeface="+mj-cs"/>
              </a:defRPr>
            </a:lvl1pPr>
          </a:lstStyle>
          <a:p>
            <a:pPr marL="571500" indent="-571500" algn="l">
              <a:spcAft>
                <a:spcPts val="1200"/>
              </a:spcAft>
              <a:buFont typeface="Arial" panose="020B0604020202020204" pitchFamily="34" charset="0"/>
              <a:buChar char="•"/>
            </a:pPr>
            <a:r>
              <a:rPr lang="en-US" sz="3000" dirty="0"/>
              <a:t>What factors influence salary?</a:t>
            </a:r>
          </a:p>
          <a:p>
            <a:pPr marL="571500" indent="-571500" algn="l">
              <a:spcAft>
                <a:spcPts val="1200"/>
              </a:spcAft>
              <a:buFont typeface="Arial" panose="020B0604020202020204" pitchFamily="34" charset="0"/>
              <a:buChar char="•"/>
            </a:pPr>
            <a:r>
              <a:rPr lang="en-US" sz="3000" dirty="0"/>
              <a:t>Can we predict salary from job descriptions and title text?</a:t>
            </a:r>
          </a:p>
          <a:p>
            <a:pPr marL="1143000" indent="-1143000" algn="l">
              <a:buAutoNum type="arabicParenR"/>
            </a:pPr>
            <a:endParaRPr lang="en-US" sz="2000" dirty="0"/>
          </a:p>
          <a:p>
            <a:pPr marL="1143000" indent="-1143000">
              <a:buAutoNum type="arabicParenR"/>
            </a:pPr>
            <a:endParaRPr lang="en-US" sz="3600" dirty="0"/>
          </a:p>
        </p:txBody>
      </p:sp>
    </p:spTree>
    <p:extLst>
      <p:ext uri="{BB962C8B-B14F-4D97-AF65-F5344CB8AC3E}">
        <p14:creationId xmlns:p14="http://schemas.microsoft.com/office/powerpoint/2010/main" val="3277096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17DA1-3FCC-8941-B83A-D69570BA97C5}"/>
              </a:ext>
            </a:extLst>
          </p:cNvPr>
          <p:cNvSpPr>
            <a:spLocks noGrp="1"/>
          </p:cNvSpPr>
          <p:nvPr>
            <p:ph type="title"/>
          </p:nvPr>
        </p:nvSpPr>
        <p:spPr>
          <a:xfrm>
            <a:off x="2611808" y="369144"/>
            <a:ext cx="7958331" cy="1077229"/>
          </a:xfrm>
        </p:spPr>
        <p:txBody>
          <a:bodyPr/>
          <a:lstStyle/>
          <a:p>
            <a:r>
              <a:rPr lang="en-US" dirty="0"/>
              <a:t>The data</a:t>
            </a:r>
          </a:p>
        </p:txBody>
      </p:sp>
      <p:sp>
        <p:nvSpPr>
          <p:cNvPr id="4" name="Content Placeholder 3">
            <a:extLst>
              <a:ext uri="{FF2B5EF4-FFF2-40B4-BE49-F238E27FC236}">
                <a16:creationId xmlns:a16="http://schemas.microsoft.com/office/drawing/2014/main" id="{D0554771-4E22-A849-B41E-926FADC45FE6}"/>
              </a:ext>
            </a:extLst>
          </p:cNvPr>
          <p:cNvSpPr>
            <a:spLocks noGrp="1"/>
          </p:cNvSpPr>
          <p:nvPr>
            <p:ph idx="1"/>
          </p:nvPr>
        </p:nvSpPr>
        <p:spPr>
          <a:xfrm>
            <a:off x="1297459" y="1127213"/>
            <a:ext cx="9272680" cy="1640701"/>
          </a:xfrm>
        </p:spPr>
        <p:txBody>
          <a:bodyPr anchor="t">
            <a:normAutofit lnSpcReduction="10000"/>
          </a:bodyPr>
          <a:lstStyle/>
          <a:p>
            <a:r>
              <a:rPr lang="en-US" sz="3600" b="1" dirty="0"/>
              <a:t>7800</a:t>
            </a:r>
            <a:r>
              <a:rPr lang="en-US" dirty="0"/>
              <a:t> 	job listings (after removing duplicates and bad data scrapes)</a:t>
            </a:r>
          </a:p>
          <a:p>
            <a:r>
              <a:rPr lang="en-US" sz="3600" b="1" dirty="0"/>
              <a:t>2033</a:t>
            </a:r>
            <a:r>
              <a:rPr lang="en-US" dirty="0"/>
              <a:t> 	with numerical salary data </a:t>
            </a:r>
          </a:p>
          <a:p>
            <a:endParaRPr lang="en-US" dirty="0"/>
          </a:p>
          <a:p>
            <a:endParaRPr lang="en-US" dirty="0"/>
          </a:p>
          <a:p>
            <a:pPr marL="0" indent="0">
              <a:buNone/>
            </a:pPr>
            <a:endParaRPr lang="en-US" dirty="0"/>
          </a:p>
          <a:p>
            <a:pPr marL="457200" lvl="1" indent="0">
              <a:buNone/>
            </a:pPr>
            <a:endParaRPr lang="en-US" dirty="0"/>
          </a:p>
        </p:txBody>
      </p:sp>
      <p:sp>
        <p:nvSpPr>
          <p:cNvPr id="8" name="Content Placeholder 3">
            <a:extLst>
              <a:ext uri="{FF2B5EF4-FFF2-40B4-BE49-F238E27FC236}">
                <a16:creationId xmlns:a16="http://schemas.microsoft.com/office/drawing/2014/main" id="{C5301A0B-6277-6546-8DD5-6F212AE857B1}"/>
              </a:ext>
            </a:extLst>
          </p:cNvPr>
          <p:cNvSpPr txBox="1">
            <a:spLocks/>
          </p:cNvSpPr>
          <p:nvPr/>
        </p:nvSpPr>
        <p:spPr>
          <a:xfrm>
            <a:off x="1297459" y="3438881"/>
            <a:ext cx="9820496" cy="1449168"/>
          </a:xfrm>
          <a:prstGeom prst="rect">
            <a:avLst/>
          </a:prstGeom>
        </p:spPr>
        <p:txBody>
          <a:bodyPr vert="horz" lIns="91440" tIns="45720" rIns="91440" bIns="45720" numCol="3" rtlCol="0" anchor="t">
            <a:normAutofit lnSpcReduction="10000"/>
          </a:bodyPr>
          <a:lst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a:lstStyle>
          <a:p>
            <a:r>
              <a:rPr lang="en-US" dirty="0"/>
              <a:t>Search terms:</a:t>
            </a:r>
          </a:p>
          <a:p>
            <a:pPr lvl="1"/>
            <a:r>
              <a:rPr lang="en-US" dirty="0"/>
              <a:t>data science</a:t>
            </a:r>
          </a:p>
          <a:p>
            <a:pPr lvl="1"/>
            <a:r>
              <a:rPr lang="en-US" dirty="0"/>
              <a:t>data scientist</a:t>
            </a:r>
          </a:p>
          <a:p>
            <a:pPr lvl="1"/>
            <a:endParaRPr lang="en-US" dirty="0"/>
          </a:p>
          <a:p>
            <a:pPr lvl="1"/>
            <a:r>
              <a:rPr lang="en-US" dirty="0"/>
              <a:t>data analyst</a:t>
            </a:r>
          </a:p>
          <a:p>
            <a:pPr lvl="1"/>
            <a:r>
              <a:rPr lang="en-US" dirty="0"/>
              <a:t>machine learning</a:t>
            </a:r>
          </a:p>
          <a:p>
            <a:pPr lvl="1"/>
            <a:endParaRPr lang="en-US" dirty="0"/>
          </a:p>
          <a:p>
            <a:pPr lvl="1"/>
            <a:r>
              <a:rPr lang="en-US" dirty="0"/>
              <a:t>big data</a:t>
            </a:r>
          </a:p>
          <a:p>
            <a:pPr marL="457200" lvl="1" indent="0">
              <a:buFont typeface="Wingdings" panose="05000000000000000000" pitchFamily="2" charset="2"/>
              <a:buNone/>
            </a:pPr>
            <a:endParaRPr lang="en-US" dirty="0"/>
          </a:p>
        </p:txBody>
      </p:sp>
      <p:sp>
        <p:nvSpPr>
          <p:cNvPr id="10" name="Content Placeholder 3">
            <a:extLst>
              <a:ext uri="{FF2B5EF4-FFF2-40B4-BE49-F238E27FC236}">
                <a16:creationId xmlns:a16="http://schemas.microsoft.com/office/drawing/2014/main" id="{CEA29F0D-A4D2-DD4D-B640-039B085012ED}"/>
              </a:ext>
            </a:extLst>
          </p:cNvPr>
          <p:cNvSpPr txBox="1">
            <a:spLocks/>
          </p:cNvSpPr>
          <p:nvPr/>
        </p:nvSpPr>
        <p:spPr>
          <a:xfrm>
            <a:off x="1297459" y="5024379"/>
            <a:ext cx="9820496" cy="1449168"/>
          </a:xfrm>
          <a:prstGeom prst="rect">
            <a:avLst/>
          </a:prstGeom>
        </p:spPr>
        <p:txBody>
          <a:bodyPr vert="horz" lIns="91440" tIns="45720" rIns="91440" bIns="45720" numCol="3" rtlCol="0" anchor="t">
            <a:normAutofit lnSpcReduction="10000"/>
          </a:bodyPr>
          <a:lst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a:lstStyle>
          <a:p>
            <a:r>
              <a:rPr lang="en-US" dirty="0"/>
              <a:t>Text data collected</a:t>
            </a:r>
          </a:p>
          <a:p>
            <a:pPr lvl="1"/>
            <a:r>
              <a:rPr lang="en-US" dirty="0"/>
              <a:t>Job Description</a:t>
            </a:r>
          </a:p>
          <a:p>
            <a:pPr lvl="1"/>
            <a:r>
              <a:rPr lang="en-US" dirty="0"/>
              <a:t>Job Location/Area</a:t>
            </a:r>
          </a:p>
          <a:p>
            <a:pPr lvl="1"/>
            <a:endParaRPr lang="en-US" dirty="0"/>
          </a:p>
          <a:p>
            <a:pPr lvl="1"/>
            <a:r>
              <a:rPr lang="en-US" dirty="0"/>
              <a:t>Job Title</a:t>
            </a:r>
          </a:p>
          <a:p>
            <a:pPr lvl="1"/>
            <a:r>
              <a:rPr lang="en-US" dirty="0"/>
              <a:t>Company</a:t>
            </a:r>
          </a:p>
          <a:p>
            <a:pPr lvl="1"/>
            <a:endParaRPr lang="en-US" dirty="0"/>
          </a:p>
          <a:p>
            <a:pPr lvl="1"/>
            <a:endParaRPr lang="en-US" dirty="0"/>
          </a:p>
          <a:p>
            <a:pPr marL="457200" lvl="1" indent="0">
              <a:buFont typeface="Wingdings" panose="05000000000000000000" pitchFamily="2" charset="2"/>
              <a:buNone/>
            </a:pPr>
            <a:endParaRPr lang="en-US" dirty="0"/>
          </a:p>
        </p:txBody>
      </p:sp>
    </p:spTree>
    <p:extLst>
      <p:ext uri="{BB962C8B-B14F-4D97-AF65-F5344CB8AC3E}">
        <p14:creationId xmlns:p14="http://schemas.microsoft.com/office/powerpoint/2010/main" val="3312783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FE6F4-889A-D249-8640-653EB2325CF4}"/>
              </a:ext>
            </a:extLst>
          </p:cNvPr>
          <p:cNvSpPr>
            <a:spLocks noGrp="1"/>
          </p:cNvSpPr>
          <p:nvPr>
            <p:ph type="title"/>
          </p:nvPr>
        </p:nvSpPr>
        <p:spPr>
          <a:xfrm>
            <a:off x="2611808" y="281116"/>
            <a:ext cx="7958331" cy="1077229"/>
          </a:xfrm>
        </p:spPr>
        <p:txBody>
          <a:bodyPr/>
          <a:lstStyle/>
          <a:p>
            <a:r>
              <a:rPr lang="en-US" dirty="0"/>
              <a:t>Work Process</a:t>
            </a:r>
          </a:p>
        </p:txBody>
      </p:sp>
      <p:sp>
        <p:nvSpPr>
          <p:cNvPr id="5" name="Rounded Rectangle 4">
            <a:extLst>
              <a:ext uri="{FF2B5EF4-FFF2-40B4-BE49-F238E27FC236}">
                <a16:creationId xmlns:a16="http://schemas.microsoft.com/office/drawing/2014/main" id="{6FCC2FFE-3179-0D43-A67F-79337F1EE759}"/>
              </a:ext>
            </a:extLst>
          </p:cNvPr>
          <p:cNvSpPr/>
          <p:nvPr/>
        </p:nvSpPr>
        <p:spPr>
          <a:xfrm>
            <a:off x="1434189" y="2451465"/>
            <a:ext cx="1734953" cy="772771"/>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Scrape</a:t>
            </a:r>
          </a:p>
        </p:txBody>
      </p:sp>
      <p:sp>
        <p:nvSpPr>
          <p:cNvPr id="6" name="Rounded Rectangle 5">
            <a:extLst>
              <a:ext uri="{FF2B5EF4-FFF2-40B4-BE49-F238E27FC236}">
                <a16:creationId xmlns:a16="http://schemas.microsoft.com/office/drawing/2014/main" id="{90A9BF40-80B6-9249-9E39-47306F314D83}"/>
              </a:ext>
            </a:extLst>
          </p:cNvPr>
          <p:cNvSpPr/>
          <p:nvPr/>
        </p:nvSpPr>
        <p:spPr>
          <a:xfrm>
            <a:off x="3808920" y="3417354"/>
            <a:ext cx="1956978" cy="772771"/>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Parse Salaries</a:t>
            </a:r>
          </a:p>
        </p:txBody>
      </p:sp>
      <p:sp>
        <p:nvSpPr>
          <p:cNvPr id="7" name="Rounded Rectangle 6">
            <a:extLst>
              <a:ext uri="{FF2B5EF4-FFF2-40B4-BE49-F238E27FC236}">
                <a16:creationId xmlns:a16="http://schemas.microsoft.com/office/drawing/2014/main" id="{8E4EA195-D42F-2540-83D0-AE85EA601144}"/>
              </a:ext>
            </a:extLst>
          </p:cNvPr>
          <p:cNvSpPr/>
          <p:nvPr/>
        </p:nvSpPr>
        <p:spPr>
          <a:xfrm>
            <a:off x="3808920" y="2433209"/>
            <a:ext cx="1956977" cy="772771"/>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Remove Duplicates</a:t>
            </a:r>
          </a:p>
        </p:txBody>
      </p:sp>
      <p:sp>
        <p:nvSpPr>
          <p:cNvPr id="8" name="Rounded Rectangle 7">
            <a:extLst>
              <a:ext uri="{FF2B5EF4-FFF2-40B4-BE49-F238E27FC236}">
                <a16:creationId xmlns:a16="http://schemas.microsoft.com/office/drawing/2014/main" id="{2F63AF06-4816-4948-ACCA-4D2730B3DF47}"/>
              </a:ext>
            </a:extLst>
          </p:cNvPr>
          <p:cNvSpPr/>
          <p:nvPr/>
        </p:nvSpPr>
        <p:spPr>
          <a:xfrm>
            <a:off x="3808920" y="4404302"/>
            <a:ext cx="1956979" cy="772771"/>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solidFill>
              </a:rPr>
              <a:t>Tokenising</a:t>
            </a:r>
            <a:r>
              <a:rPr lang="en-US" dirty="0">
                <a:solidFill>
                  <a:schemeClr val="bg1"/>
                </a:solidFill>
              </a:rPr>
              <a:t> &amp; </a:t>
            </a:r>
            <a:r>
              <a:rPr lang="en-US" dirty="0" err="1">
                <a:solidFill>
                  <a:schemeClr val="bg1"/>
                </a:solidFill>
              </a:rPr>
              <a:t>Lemmatisation</a:t>
            </a:r>
            <a:endParaRPr lang="en-US" dirty="0">
              <a:solidFill>
                <a:schemeClr val="bg1"/>
              </a:solidFill>
            </a:endParaRPr>
          </a:p>
        </p:txBody>
      </p:sp>
      <p:sp>
        <p:nvSpPr>
          <p:cNvPr id="9" name="Rounded Rectangle 8">
            <a:extLst>
              <a:ext uri="{FF2B5EF4-FFF2-40B4-BE49-F238E27FC236}">
                <a16:creationId xmlns:a16="http://schemas.microsoft.com/office/drawing/2014/main" id="{1D137AB3-D2BD-B54B-84F0-59748371A22C}"/>
              </a:ext>
            </a:extLst>
          </p:cNvPr>
          <p:cNvSpPr/>
          <p:nvPr/>
        </p:nvSpPr>
        <p:spPr>
          <a:xfrm>
            <a:off x="6405675" y="2407732"/>
            <a:ext cx="1937806" cy="493143"/>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N-grams</a:t>
            </a:r>
          </a:p>
        </p:txBody>
      </p:sp>
      <p:sp>
        <p:nvSpPr>
          <p:cNvPr id="10" name="Rounded Rectangle 9">
            <a:extLst>
              <a:ext uri="{FF2B5EF4-FFF2-40B4-BE49-F238E27FC236}">
                <a16:creationId xmlns:a16="http://schemas.microsoft.com/office/drawing/2014/main" id="{E2F20F22-B631-C54B-BC1F-B16546AF1760}"/>
              </a:ext>
            </a:extLst>
          </p:cNvPr>
          <p:cNvSpPr/>
          <p:nvPr/>
        </p:nvSpPr>
        <p:spPr>
          <a:xfrm>
            <a:off x="6405675" y="4161468"/>
            <a:ext cx="1937806" cy="1355607"/>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bg1"/>
                </a:solidFill>
              </a:rPr>
              <a:t>Dummify</a:t>
            </a:r>
            <a:r>
              <a:rPr lang="en-US" sz="2000" dirty="0">
                <a:solidFill>
                  <a:schemeClr val="bg1"/>
                </a:solidFill>
              </a:rPr>
              <a:t> Job Classification &amp; Location</a:t>
            </a:r>
          </a:p>
        </p:txBody>
      </p:sp>
      <p:sp>
        <p:nvSpPr>
          <p:cNvPr id="11" name="Rounded Rectangle 10">
            <a:extLst>
              <a:ext uri="{FF2B5EF4-FFF2-40B4-BE49-F238E27FC236}">
                <a16:creationId xmlns:a16="http://schemas.microsoft.com/office/drawing/2014/main" id="{29D6319C-8C36-A141-9F44-5462A119CB31}"/>
              </a:ext>
            </a:extLst>
          </p:cNvPr>
          <p:cNvSpPr/>
          <p:nvPr/>
        </p:nvSpPr>
        <p:spPr>
          <a:xfrm>
            <a:off x="6405675" y="3084334"/>
            <a:ext cx="1937806" cy="893297"/>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TFIDF </a:t>
            </a:r>
            <a:r>
              <a:rPr lang="en-US" sz="2000" dirty="0" err="1">
                <a:solidFill>
                  <a:schemeClr val="bg1"/>
                </a:solidFill>
              </a:rPr>
              <a:t>Vectoriser</a:t>
            </a:r>
            <a:endParaRPr lang="en-US" sz="2000" dirty="0">
              <a:solidFill>
                <a:schemeClr val="bg1"/>
              </a:solidFill>
            </a:endParaRPr>
          </a:p>
        </p:txBody>
      </p:sp>
      <p:sp>
        <p:nvSpPr>
          <p:cNvPr id="12" name="Rounded Rectangle 11">
            <a:extLst>
              <a:ext uri="{FF2B5EF4-FFF2-40B4-BE49-F238E27FC236}">
                <a16:creationId xmlns:a16="http://schemas.microsoft.com/office/drawing/2014/main" id="{84478A7D-8EEF-FE4A-B1BF-BEC08A87CD6E}"/>
              </a:ext>
            </a:extLst>
          </p:cNvPr>
          <p:cNvSpPr/>
          <p:nvPr/>
        </p:nvSpPr>
        <p:spPr>
          <a:xfrm>
            <a:off x="6405675" y="5696234"/>
            <a:ext cx="1937806" cy="893297"/>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Topic Modelling</a:t>
            </a:r>
          </a:p>
        </p:txBody>
      </p:sp>
      <p:sp>
        <p:nvSpPr>
          <p:cNvPr id="13" name="Rounded Rectangle 12">
            <a:extLst>
              <a:ext uri="{FF2B5EF4-FFF2-40B4-BE49-F238E27FC236}">
                <a16:creationId xmlns:a16="http://schemas.microsoft.com/office/drawing/2014/main" id="{88718B67-CFFA-EA46-8255-5D5C3612C786}"/>
              </a:ext>
            </a:extLst>
          </p:cNvPr>
          <p:cNvSpPr/>
          <p:nvPr/>
        </p:nvSpPr>
        <p:spPr>
          <a:xfrm>
            <a:off x="8983257" y="2408856"/>
            <a:ext cx="1937806" cy="882477"/>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Naïve Bayes</a:t>
            </a:r>
          </a:p>
        </p:txBody>
      </p:sp>
      <p:sp>
        <p:nvSpPr>
          <p:cNvPr id="14" name="Rounded Rectangle 13">
            <a:extLst>
              <a:ext uri="{FF2B5EF4-FFF2-40B4-BE49-F238E27FC236}">
                <a16:creationId xmlns:a16="http://schemas.microsoft.com/office/drawing/2014/main" id="{D734F98D-5247-154C-A019-A96151D8975C}"/>
              </a:ext>
            </a:extLst>
          </p:cNvPr>
          <p:cNvSpPr/>
          <p:nvPr/>
        </p:nvSpPr>
        <p:spPr>
          <a:xfrm>
            <a:off x="8983257" y="3483868"/>
            <a:ext cx="1937806" cy="882477"/>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Decision Tree</a:t>
            </a:r>
          </a:p>
        </p:txBody>
      </p:sp>
      <p:sp>
        <p:nvSpPr>
          <p:cNvPr id="15" name="Rounded Rectangle 14">
            <a:extLst>
              <a:ext uri="{FF2B5EF4-FFF2-40B4-BE49-F238E27FC236}">
                <a16:creationId xmlns:a16="http://schemas.microsoft.com/office/drawing/2014/main" id="{DB6A87EC-E75F-2748-ACA1-0DAD7CCDC826}"/>
              </a:ext>
            </a:extLst>
          </p:cNvPr>
          <p:cNvSpPr/>
          <p:nvPr/>
        </p:nvSpPr>
        <p:spPr>
          <a:xfrm>
            <a:off x="8983257" y="4574950"/>
            <a:ext cx="1937806" cy="882477"/>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Random Forest</a:t>
            </a:r>
          </a:p>
        </p:txBody>
      </p:sp>
      <p:sp>
        <p:nvSpPr>
          <p:cNvPr id="16" name="Rounded Rectangle 15">
            <a:extLst>
              <a:ext uri="{FF2B5EF4-FFF2-40B4-BE49-F238E27FC236}">
                <a16:creationId xmlns:a16="http://schemas.microsoft.com/office/drawing/2014/main" id="{19374814-18AF-0443-9CDC-7FDFE0639C6E}"/>
              </a:ext>
            </a:extLst>
          </p:cNvPr>
          <p:cNvSpPr/>
          <p:nvPr/>
        </p:nvSpPr>
        <p:spPr>
          <a:xfrm>
            <a:off x="3808920" y="1257907"/>
            <a:ext cx="1956979" cy="882477"/>
          </a:xfrm>
          <a:prstGeom prst="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DATA PREPARATION</a:t>
            </a:r>
          </a:p>
        </p:txBody>
      </p:sp>
      <p:sp>
        <p:nvSpPr>
          <p:cNvPr id="17" name="Rounded Rectangle 16">
            <a:extLst>
              <a:ext uri="{FF2B5EF4-FFF2-40B4-BE49-F238E27FC236}">
                <a16:creationId xmlns:a16="http://schemas.microsoft.com/office/drawing/2014/main" id="{801C8DC1-2BCB-3842-ABFF-6904FF4A7A19}"/>
              </a:ext>
            </a:extLst>
          </p:cNvPr>
          <p:cNvSpPr/>
          <p:nvPr/>
        </p:nvSpPr>
        <p:spPr>
          <a:xfrm>
            <a:off x="1434189" y="1274519"/>
            <a:ext cx="1734953" cy="882477"/>
          </a:xfrm>
          <a:prstGeom prst="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DATA COLLECTION</a:t>
            </a:r>
          </a:p>
        </p:txBody>
      </p:sp>
      <p:sp>
        <p:nvSpPr>
          <p:cNvPr id="18" name="Rounded Rectangle 17">
            <a:extLst>
              <a:ext uri="{FF2B5EF4-FFF2-40B4-BE49-F238E27FC236}">
                <a16:creationId xmlns:a16="http://schemas.microsoft.com/office/drawing/2014/main" id="{10A74508-7926-8741-BEC6-50AEF70F9A04}"/>
              </a:ext>
            </a:extLst>
          </p:cNvPr>
          <p:cNvSpPr/>
          <p:nvPr/>
        </p:nvSpPr>
        <p:spPr>
          <a:xfrm>
            <a:off x="6405675" y="1257907"/>
            <a:ext cx="1956979" cy="882477"/>
          </a:xfrm>
          <a:prstGeom prst="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FEATURE ENGINEERING</a:t>
            </a:r>
          </a:p>
        </p:txBody>
      </p:sp>
      <p:sp>
        <p:nvSpPr>
          <p:cNvPr id="19" name="Rounded Rectangle 18">
            <a:extLst>
              <a:ext uri="{FF2B5EF4-FFF2-40B4-BE49-F238E27FC236}">
                <a16:creationId xmlns:a16="http://schemas.microsoft.com/office/drawing/2014/main" id="{D0E85577-6958-FB4E-9E0B-F3F0A8750182}"/>
              </a:ext>
            </a:extLst>
          </p:cNvPr>
          <p:cNvSpPr/>
          <p:nvPr/>
        </p:nvSpPr>
        <p:spPr>
          <a:xfrm>
            <a:off x="8954162" y="1257907"/>
            <a:ext cx="1956979" cy="882477"/>
          </a:xfrm>
          <a:prstGeom prst="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MODELLING</a:t>
            </a:r>
          </a:p>
        </p:txBody>
      </p:sp>
      <p:sp>
        <p:nvSpPr>
          <p:cNvPr id="20" name="Right Arrow 19">
            <a:extLst>
              <a:ext uri="{FF2B5EF4-FFF2-40B4-BE49-F238E27FC236}">
                <a16:creationId xmlns:a16="http://schemas.microsoft.com/office/drawing/2014/main" id="{C6FE6232-6CA6-A24D-A9B9-DA000C08E453}"/>
              </a:ext>
            </a:extLst>
          </p:cNvPr>
          <p:cNvSpPr/>
          <p:nvPr/>
        </p:nvSpPr>
        <p:spPr>
          <a:xfrm>
            <a:off x="3348353" y="1499601"/>
            <a:ext cx="316523" cy="363917"/>
          </a:xfrm>
          <a:prstGeom prst="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a:extLst>
              <a:ext uri="{FF2B5EF4-FFF2-40B4-BE49-F238E27FC236}">
                <a16:creationId xmlns:a16="http://schemas.microsoft.com/office/drawing/2014/main" id="{B93FD3EA-2414-3445-B3FB-BD0B0F98C122}"/>
              </a:ext>
            </a:extLst>
          </p:cNvPr>
          <p:cNvSpPr/>
          <p:nvPr/>
        </p:nvSpPr>
        <p:spPr>
          <a:xfrm>
            <a:off x="5937738" y="1499600"/>
            <a:ext cx="316523" cy="363917"/>
          </a:xfrm>
          <a:prstGeom prst="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a:extLst>
              <a:ext uri="{FF2B5EF4-FFF2-40B4-BE49-F238E27FC236}">
                <a16:creationId xmlns:a16="http://schemas.microsoft.com/office/drawing/2014/main" id="{B31EA004-CBD4-A34C-B4FB-2A9773915AC1}"/>
              </a:ext>
            </a:extLst>
          </p:cNvPr>
          <p:cNvSpPr/>
          <p:nvPr/>
        </p:nvSpPr>
        <p:spPr>
          <a:xfrm>
            <a:off x="8500146" y="1499599"/>
            <a:ext cx="316523" cy="363917"/>
          </a:xfrm>
          <a:prstGeom prst="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2D865449-A5ED-BC4E-A137-6567911F38E7}"/>
              </a:ext>
            </a:extLst>
          </p:cNvPr>
          <p:cNvSpPr/>
          <p:nvPr/>
        </p:nvSpPr>
        <p:spPr>
          <a:xfrm>
            <a:off x="3534508" y="844059"/>
            <a:ext cx="2561492" cy="4746665"/>
          </a:xfrm>
          <a:prstGeom prst="round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5638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C982C-1E1C-944C-BF13-4ECE9429E905}"/>
              </a:ext>
            </a:extLst>
          </p:cNvPr>
          <p:cNvSpPr>
            <a:spLocks noGrp="1"/>
          </p:cNvSpPr>
          <p:nvPr>
            <p:ph type="title"/>
          </p:nvPr>
        </p:nvSpPr>
        <p:spPr/>
        <p:txBody>
          <a:bodyPr/>
          <a:lstStyle/>
          <a:p>
            <a:r>
              <a:rPr lang="en-US" dirty="0"/>
              <a:t>Feature Engineering : Bi-grams</a:t>
            </a:r>
          </a:p>
        </p:txBody>
      </p:sp>
      <p:sp>
        <p:nvSpPr>
          <p:cNvPr id="3" name="Rectangle 2">
            <a:extLst>
              <a:ext uri="{FF2B5EF4-FFF2-40B4-BE49-F238E27FC236}">
                <a16:creationId xmlns:a16="http://schemas.microsoft.com/office/drawing/2014/main" id="{0BB3B397-1BA5-AF41-885B-D2F676FD35A1}"/>
              </a:ext>
            </a:extLst>
          </p:cNvPr>
          <p:cNvSpPr/>
          <p:nvPr/>
        </p:nvSpPr>
        <p:spPr>
          <a:xfrm>
            <a:off x="1746141" y="2062597"/>
            <a:ext cx="9102673" cy="3578786"/>
          </a:xfrm>
          <a:prstGeom prst="rect">
            <a:avLst/>
          </a:prstGeom>
        </p:spPr>
        <p:txBody>
          <a:bodyPr wrap="square" numCol="2">
            <a:spAutoFit/>
          </a:bodyPr>
          <a:lstStyle/>
          <a:p>
            <a:r>
              <a:rPr lang="en-AU" sz="2800" dirty="0"/>
              <a:t>('communication', 'skill’)</a:t>
            </a:r>
          </a:p>
          <a:p>
            <a:r>
              <a:rPr lang="en-AU" sz="2800" dirty="0"/>
              <a:t>('click', 'apply')</a:t>
            </a:r>
          </a:p>
          <a:p>
            <a:r>
              <a:rPr lang="en-AU" sz="2800" dirty="0"/>
              <a:t>('problem', 'solve') </a:t>
            </a:r>
          </a:p>
          <a:p>
            <a:r>
              <a:rPr lang="en-AU" sz="2800" dirty="0"/>
              <a:t>('attention', 'detail')</a:t>
            </a:r>
          </a:p>
          <a:p>
            <a:r>
              <a:rPr lang="en-AU" sz="2800" dirty="0"/>
              <a:t>('high', 'level')</a:t>
            </a:r>
          </a:p>
          <a:p>
            <a:r>
              <a:rPr lang="en-AU" sz="2800" dirty="0"/>
              <a:t>('cover', 'letter')</a:t>
            </a:r>
          </a:p>
          <a:p>
            <a:r>
              <a:rPr lang="en-AU" sz="2800" dirty="0"/>
              <a:t>('selection', 'criterion')</a:t>
            </a:r>
          </a:p>
          <a:p>
            <a:r>
              <a:rPr lang="en-AU" sz="2800" dirty="0"/>
              <a:t>('confidential', 'discussion')</a:t>
            </a:r>
          </a:p>
          <a:p>
            <a:r>
              <a:rPr lang="en-AU" sz="2800" dirty="0"/>
              <a:t>('business', 'analyst')</a:t>
            </a:r>
          </a:p>
          <a:p>
            <a:r>
              <a:rPr lang="en-AU" sz="2800" dirty="0"/>
              <a:t>('please', 'contact') </a:t>
            </a:r>
          </a:p>
          <a:p>
            <a:r>
              <a:rPr lang="en-AU" sz="2800" dirty="0"/>
              <a:t>('full', 'time')</a:t>
            </a:r>
          </a:p>
          <a:p>
            <a:r>
              <a:rPr lang="en-AU" sz="2800" dirty="0"/>
              <a:t>('tertiary', 'qualification') </a:t>
            </a:r>
          </a:p>
          <a:p>
            <a:r>
              <a:rPr lang="en-AU" sz="2800" dirty="0"/>
              <a:t>('internal', 'external')</a:t>
            </a:r>
          </a:p>
          <a:p>
            <a:r>
              <a:rPr lang="en-AU" sz="2800" dirty="0"/>
              <a:t>('classroom', 'teacher') </a:t>
            </a:r>
          </a:p>
          <a:p>
            <a:r>
              <a:rPr lang="en-AU" sz="2800" dirty="0"/>
              <a:t>('position', 'description')</a:t>
            </a:r>
          </a:p>
          <a:p>
            <a:r>
              <a:rPr lang="en-AU" sz="2800" dirty="0"/>
              <a:t>('please', 'note')</a:t>
            </a:r>
          </a:p>
        </p:txBody>
      </p:sp>
    </p:spTree>
    <p:extLst>
      <p:ext uri="{BB962C8B-B14F-4D97-AF65-F5344CB8AC3E}">
        <p14:creationId xmlns:p14="http://schemas.microsoft.com/office/powerpoint/2010/main" val="643557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C982C-1E1C-944C-BF13-4ECE9429E905}"/>
              </a:ext>
            </a:extLst>
          </p:cNvPr>
          <p:cNvSpPr>
            <a:spLocks noGrp="1"/>
          </p:cNvSpPr>
          <p:nvPr>
            <p:ph type="title"/>
          </p:nvPr>
        </p:nvSpPr>
        <p:spPr/>
        <p:txBody>
          <a:bodyPr/>
          <a:lstStyle/>
          <a:p>
            <a:r>
              <a:rPr lang="en-US" dirty="0"/>
              <a:t>Feature Engineering : Bi-grams</a:t>
            </a:r>
          </a:p>
        </p:txBody>
      </p:sp>
      <p:sp>
        <p:nvSpPr>
          <p:cNvPr id="3" name="Rectangle 2">
            <a:extLst>
              <a:ext uri="{FF2B5EF4-FFF2-40B4-BE49-F238E27FC236}">
                <a16:creationId xmlns:a16="http://schemas.microsoft.com/office/drawing/2014/main" id="{0BB3B397-1BA5-AF41-885B-D2F676FD35A1}"/>
              </a:ext>
            </a:extLst>
          </p:cNvPr>
          <p:cNvSpPr/>
          <p:nvPr/>
        </p:nvSpPr>
        <p:spPr>
          <a:xfrm>
            <a:off x="1746141" y="2062597"/>
            <a:ext cx="9102673" cy="3578786"/>
          </a:xfrm>
          <a:prstGeom prst="rect">
            <a:avLst/>
          </a:prstGeom>
        </p:spPr>
        <p:txBody>
          <a:bodyPr wrap="square" numCol="2">
            <a:spAutoFit/>
          </a:bodyPr>
          <a:lstStyle/>
          <a:p>
            <a:r>
              <a:rPr lang="en-AU" sz="2800" dirty="0"/>
              <a:t>('communication', 'skill’)</a:t>
            </a:r>
          </a:p>
          <a:p>
            <a:r>
              <a:rPr lang="en-AU" sz="2800" dirty="0"/>
              <a:t>('click', 'apply')</a:t>
            </a:r>
          </a:p>
          <a:p>
            <a:r>
              <a:rPr lang="en-AU" sz="2800" dirty="0"/>
              <a:t>('problem', 'solve') </a:t>
            </a:r>
          </a:p>
          <a:p>
            <a:r>
              <a:rPr lang="en-AU" sz="2800" dirty="0"/>
              <a:t>('attention', 'detail')</a:t>
            </a:r>
          </a:p>
          <a:p>
            <a:r>
              <a:rPr lang="en-AU" sz="2800" dirty="0"/>
              <a:t>('high', 'level')</a:t>
            </a:r>
          </a:p>
          <a:p>
            <a:r>
              <a:rPr lang="en-AU" sz="2800" dirty="0"/>
              <a:t>('cover', 'letter')</a:t>
            </a:r>
          </a:p>
          <a:p>
            <a:r>
              <a:rPr lang="en-AU" sz="2800" dirty="0"/>
              <a:t>('selection', 'criterion')</a:t>
            </a:r>
          </a:p>
          <a:p>
            <a:r>
              <a:rPr lang="en-AU" sz="2800" dirty="0"/>
              <a:t>('confidential', 'discussion')</a:t>
            </a:r>
          </a:p>
          <a:p>
            <a:r>
              <a:rPr lang="en-AU" sz="2800" dirty="0"/>
              <a:t>('business', 'analyst')</a:t>
            </a:r>
          </a:p>
          <a:p>
            <a:r>
              <a:rPr lang="en-AU" sz="2800" dirty="0"/>
              <a:t>('please', 'contact') </a:t>
            </a:r>
          </a:p>
          <a:p>
            <a:r>
              <a:rPr lang="en-AU" sz="2800" dirty="0"/>
              <a:t>('full', 'time')</a:t>
            </a:r>
          </a:p>
          <a:p>
            <a:r>
              <a:rPr lang="en-AU" sz="2800" dirty="0"/>
              <a:t>('tertiary', 'qualification') </a:t>
            </a:r>
          </a:p>
          <a:p>
            <a:r>
              <a:rPr lang="en-AU" sz="2800" dirty="0"/>
              <a:t>('internal', 'external')</a:t>
            </a:r>
          </a:p>
          <a:p>
            <a:r>
              <a:rPr lang="en-AU" sz="2800" dirty="0"/>
              <a:t>('classroom', 'teacher') </a:t>
            </a:r>
          </a:p>
          <a:p>
            <a:r>
              <a:rPr lang="en-AU" sz="2800" dirty="0"/>
              <a:t>('position', 'description')</a:t>
            </a:r>
          </a:p>
          <a:p>
            <a:r>
              <a:rPr lang="en-AU" sz="2800" dirty="0"/>
              <a:t>('please', 'note')</a:t>
            </a:r>
          </a:p>
        </p:txBody>
      </p:sp>
      <p:pic>
        <p:nvPicPr>
          <p:cNvPr id="5" name="Picture 4" descr="A screenshot of a cell phone&#10;&#10;Description automatically generated">
            <a:extLst>
              <a:ext uri="{FF2B5EF4-FFF2-40B4-BE49-F238E27FC236}">
                <a16:creationId xmlns:a16="http://schemas.microsoft.com/office/drawing/2014/main" id="{EA292B75-7B7D-6147-B031-96B8CBA7BDE7}"/>
              </a:ext>
            </a:extLst>
          </p:cNvPr>
          <p:cNvPicPr>
            <a:picLocks noChangeAspect="1"/>
          </p:cNvPicPr>
          <p:nvPr/>
        </p:nvPicPr>
        <p:blipFill rotWithShape="1">
          <a:blip r:embed="rId3"/>
          <a:srcRect l="2637" r="4708"/>
          <a:stretch/>
        </p:blipFill>
        <p:spPr>
          <a:xfrm>
            <a:off x="1100380" y="1346670"/>
            <a:ext cx="10166888" cy="5486400"/>
          </a:xfrm>
          <a:prstGeom prst="rect">
            <a:avLst/>
          </a:prstGeom>
        </p:spPr>
      </p:pic>
    </p:spTree>
    <p:extLst>
      <p:ext uri="{BB962C8B-B14F-4D97-AF65-F5344CB8AC3E}">
        <p14:creationId xmlns:p14="http://schemas.microsoft.com/office/powerpoint/2010/main" val="1207772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C982C-1E1C-944C-BF13-4ECE9429E905}"/>
              </a:ext>
            </a:extLst>
          </p:cNvPr>
          <p:cNvSpPr>
            <a:spLocks noGrp="1"/>
          </p:cNvSpPr>
          <p:nvPr>
            <p:ph type="title"/>
          </p:nvPr>
        </p:nvSpPr>
        <p:spPr/>
        <p:txBody>
          <a:bodyPr/>
          <a:lstStyle/>
          <a:p>
            <a:r>
              <a:rPr lang="en-US" dirty="0"/>
              <a:t>Feature Engineering : Bi-grams</a:t>
            </a:r>
          </a:p>
        </p:txBody>
      </p:sp>
      <p:sp>
        <p:nvSpPr>
          <p:cNvPr id="3" name="Rectangle 2">
            <a:extLst>
              <a:ext uri="{FF2B5EF4-FFF2-40B4-BE49-F238E27FC236}">
                <a16:creationId xmlns:a16="http://schemas.microsoft.com/office/drawing/2014/main" id="{0BB3B397-1BA5-AF41-885B-D2F676FD35A1}"/>
              </a:ext>
            </a:extLst>
          </p:cNvPr>
          <p:cNvSpPr/>
          <p:nvPr/>
        </p:nvSpPr>
        <p:spPr>
          <a:xfrm>
            <a:off x="1746141" y="2062597"/>
            <a:ext cx="9102673" cy="3578786"/>
          </a:xfrm>
          <a:prstGeom prst="rect">
            <a:avLst/>
          </a:prstGeom>
        </p:spPr>
        <p:txBody>
          <a:bodyPr wrap="square" numCol="2">
            <a:spAutoFit/>
          </a:bodyPr>
          <a:lstStyle/>
          <a:p>
            <a:r>
              <a:rPr lang="en-AU" sz="2800" dirty="0"/>
              <a:t>('communication', 'skill’)</a:t>
            </a:r>
          </a:p>
          <a:p>
            <a:r>
              <a:rPr lang="en-AU" sz="2800" dirty="0"/>
              <a:t>('click', 'apply')</a:t>
            </a:r>
          </a:p>
          <a:p>
            <a:r>
              <a:rPr lang="en-AU" sz="2800" dirty="0"/>
              <a:t>('problem', 'solve') </a:t>
            </a:r>
          </a:p>
          <a:p>
            <a:r>
              <a:rPr lang="en-AU" sz="2800" dirty="0"/>
              <a:t>('attention', 'detail')</a:t>
            </a:r>
          </a:p>
          <a:p>
            <a:r>
              <a:rPr lang="en-AU" sz="2800" dirty="0"/>
              <a:t>('high', 'level')</a:t>
            </a:r>
          </a:p>
          <a:p>
            <a:r>
              <a:rPr lang="en-AU" sz="2800" dirty="0"/>
              <a:t>('cover', 'letter')</a:t>
            </a:r>
          </a:p>
          <a:p>
            <a:r>
              <a:rPr lang="en-AU" sz="2800" dirty="0"/>
              <a:t>('selection', 'criterion')</a:t>
            </a:r>
          </a:p>
          <a:p>
            <a:r>
              <a:rPr lang="en-AU" sz="2800" dirty="0"/>
              <a:t>('confidential', 'discussion')</a:t>
            </a:r>
          </a:p>
          <a:p>
            <a:r>
              <a:rPr lang="en-AU" sz="2800" dirty="0"/>
              <a:t>('business', 'analyst')</a:t>
            </a:r>
          </a:p>
          <a:p>
            <a:r>
              <a:rPr lang="en-AU" sz="2800" dirty="0"/>
              <a:t>('please', 'contact') </a:t>
            </a:r>
          </a:p>
          <a:p>
            <a:r>
              <a:rPr lang="en-AU" sz="2800" dirty="0"/>
              <a:t>('full', 'time')</a:t>
            </a:r>
          </a:p>
          <a:p>
            <a:r>
              <a:rPr lang="en-AU" sz="2800" dirty="0"/>
              <a:t>('tertiary', 'qualification') </a:t>
            </a:r>
          </a:p>
          <a:p>
            <a:r>
              <a:rPr lang="en-AU" sz="2800" dirty="0"/>
              <a:t>('internal', 'external')</a:t>
            </a:r>
          </a:p>
          <a:p>
            <a:r>
              <a:rPr lang="en-AU" sz="2800" dirty="0"/>
              <a:t>('classroom', 'teacher') </a:t>
            </a:r>
          </a:p>
          <a:p>
            <a:r>
              <a:rPr lang="en-AU" sz="2800" dirty="0"/>
              <a:t>('position', 'description')</a:t>
            </a:r>
          </a:p>
          <a:p>
            <a:r>
              <a:rPr lang="en-AU" sz="2800" dirty="0"/>
              <a:t>('please', 'note')</a:t>
            </a:r>
          </a:p>
        </p:txBody>
      </p:sp>
      <p:pic>
        <p:nvPicPr>
          <p:cNvPr id="5" name="Picture 4" descr="A screenshot of a cell phone&#10;&#10;Description automatically generated">
            <a:extLst>
              <a:ext uri="{FF2B5EF4-FFF2-40B4-BE49-F238E27FC236}">
                <a16:creationId xmlns:a16="http://schemas.microsoft.com/office/drawing/2014/main" id="{EA292B75-7B7D-6147-B031-96B8CBA7BDE7}"/>
              </a:ext>
            </a:extLst>
          </p:cNvPr>
          <p:cNvPicPr>
            <a:picLocks noChangeAspect="1"/>
          </p:cNvPicPr>
          <p:nvPr/>
        </p:nvPicPr>
        <p:blipFill rotWithShape="1">
          <a:blip r:embed="rId3"/>
          <a:srcRect l="2637" r="4708"/>
          <a:stretch/>
        </p:blipFill>
        <p:spPr>
          <a:xfrm>
            <a:off x="1100380" y="1346670"/>
            <a:ext cx="10166888" cy="5486400"/>
          </a:xfrm>
          <a:prstGeom prst="rect">
            <a:avLst/>
          </a:prstGeom>
        </p:spPr>
      </p:pic>
      <p:grpSp>
        <p:nvGrpSpPr>
          <p:cNvPr id="12" name="Group 11">
            <a:extLst>
              <a:ext uri="{FF2B5EF4-FFF2-40B4-BE49-F238E27FC236}">
                <a16:creationId xmlns:a16="http://schemas.microsoft.com/office/drawing/2014/main" id="{58A156FB-F935-F94E-8CF8-C30C9FE55519}"/>
              </a:ext>
            </a:extLst>
          </p:cNvPr>
          <p:cNvGrpSpPr/>
          <p:nvPr/>
        </p:nvGrpSpPr>
        <p:grpSpPr>
          <a:xfrm>
            <a:off x="-30702" y="1346677"/>
            <a:ext cx="12255703" cy="5511330"/>
            <a:chOff x="-30702" y="1346670"/>
            <a:chExt cx="12255703" cy="5511330"/>
          </a:xfrm>
        </p:grpSpPr>
        <p:pic>
          <p:nvPicPr>
            <p:cNvPr id="8" name="Picture 7" descr="A screenshot of a cell phone&#10;&#10;Description automatically generated">
              <a:extLst>
                <a:ext uri="{FF2B5EF4-FFF2-40B4-BE49-F238E27FC236}">
                  <a16:creationId xmlns:a16="http://schemas.microsoft.com/office/drawing/2014/main" id="{A26C6F90-EECA-6249-80F6-00CD39DC70BD}"/>
                </a:ext>
              </a:extLst>
            </p:cNvPr>
            <p:cNvPicPr>
              <a:picLocks noChangeAspect="1"/>
            </p:cNvPicPr>
            <p:nvPr/>
          </p:nvPicPr>
          <p:blipFill rotWithShape="1">
            <a:blip r:embed="rId4"/>
            <a:srcRect l="9026" r="7585"/>
            <a:stretch/>
          </p:blipFill>
          <p:spPr>
            <a:xfrm>
              <a:off x="-30702" y="1346670"/>
              <a:ext cx="12255703" cy="5511330"/>
            </a:xfrm>
            <a:prstGeom prst="rect">
              <a:avLst/>
            </a:prstGeom>
          </p:spPr>
        </p:pic>
        <p:sp>
          <p:nvSpPr>
            <p:cNvPr id="9" name="TextBox 8">
              <a:extLst>
                <a:ext uri="{FF2B5EF4-FFF2-40B4-BE49-F238E27FC236}">
                  <a16:creationId xmlns:a16="http://schemas.microsoft.com/office/drawing/2014/main" id="{15AF58C8-D25F-7547-AC53-FF200C1B1721}"/>
                </a:ext>
              </a:extLst>
            </p:cNvPr>
            <p:cNvSpPr txBox="1"/>
            <p:nvPr/>
          </p:nvSpPr>
          <p:spPr>
            <a:xfrm>
              <a:off x="1327687" y="2296462"/>
              <a:ext cx="2169762" cy="369332"/>
            </a:xfrm>
            <a:prstGeom prst="rect">
              <a:avLst/>
            </a:prstGeom>
            <a:noFill/>
          </p:spPr>
          <p:txBody>
            <a:bodyPr wrap="square" rtlCol="0">
              <a:spAutoFit/>
            </a:bodyPr>
            <a:lstStyle/>
            <a:p>
              <a:r>
                <a:rPr lang="en-US" dirty="0">
                  <a:solidFill>
                    <a:schemeClr val="bg1"/>
                  </a:solidFill>
                </a:rPr>
                <a:t>‘business analyst’</a:t>
              </a:r>
            </a:p>
          </p:txBody>
        </p:sp>
        <p:cxnSp>
          <p:nvCxnSpPr>
            <p:cNvPr id="11" name="Straight Arrow Connector 10">
              <a:extLst>
                <a:ext uri="{FF2B5EF4-FFF2-40B4-BE49-F238E27FC236}">
                  <a16:creationId xmlns:a16="http://schemas.microsoft.com/office/drawing/2014/main" id="{B98D3783-CFB6-0842-A76E-024C318B465C}"/>
                </a:ext>
              </a:extLst>
            </p:cNvPr>
            <p:cNvCxnSpPr/>
            <p:nvPr/>
          </p:nvCxnSpPr>
          <p:spPr>
            <a:xfrm flipH="1" flipV="1">
              <a:off x="788408" y="2185261"/>
              <a:ext cx="539279" cy="23863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15950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C982C-1E1C-944C-BF13-4ECE9429E905}"/>
              </a:ext>
            </a:extLst>
          </p:cNvPr>
          <p:cNvSpPr>
            <a:spLocks noGrp="1"/>
          </p:cNvSpPr>
          <p:nvPr>
            <p:ph type="title"/>
          </p:nvPr>
        </p:nvSpPr>
        <p:spPr/>
        <p:txBody>
          <a:bodyPr/>
          <a:lstStyle/>
          <a:p>
            <a:r>
              <a:rPr lang="en-US" dirty="0"/>
              <a:t>Feature Engineering : Tri-grams</a:t>
            </a:r>
          </a:p>
        </p:txBody>
      </p:sp>
      <p:sp>
        <p:nvSpPr>
          <p:cNvPr id="3" name="Rectangle 2">
            <a:extLst>
              <a:ext uri="{FF2B5EF4-FFF2-40B4-BE49-F238E27FC236}">
                <a16:creationId xmlns:a16="http://schemas.microsoft.com/office/drawing/2014/main" id="{0BB3B397-1BA5-AF41-885B-D2F676FD35A1}"/>
              </a:ext>
            </a:extLst>
          </p:cNvPr>
          <p:cNvSpPr/>
          <p:nvPr/>
        </p:nvSpPr>
        <p:spPr>
          <a:xfrm>
            <a:off x="1162374" y="2062596"/>
            <a:ext cx="6416297" cy="4031873"/>
          </a:xfrm>
          <a:prstGeom prst="rect">
            <a:avLst/>
          </a:prstGeom>
        </p:spPr>
        <p:txBody>
          <a:bodyPr wrap="square" numCol="1">
            <a:spAutoFit/>
          </a:bodyPr>
          <a:lstStyle/>
          <a:p>
            <a:r>
              <a:rPr lang="en-AU" sz="2800" dirty="0"/>
              <a:t>('business', 'analyst', 'initial’), </a:t>
            </a:r>
          </a:p>
          <a:p>
            <a:r>
              <a:rPr lang="en-AU" sz="2800" dirty="0"/>
              <a:t>('business', 'analyst', 'within’), </a:t>
            </a:r>
          </a:p>
          <a:p>
            <a:r>
              <a:rPr lang="en-AU" sz="2800" dirty="0"/>
              <a:t>('business', 'analyst', 'experience’), </a:t>
            </a:r>
          </a:p>
          <a:p>
            <a:r>
              <a:rPr lang="en-AU" sz="2800" dirty="0"/>
              <a:t>('business', 'analyst', 'strong’), </a:t>
            </a:r>
          </a:p>
          <a:p>
            <a:r>
              <a:rPr lang="en-AU" sz="2800" dirty="0"/>
              <a:t>('exist', 'business', 'analyst’), </a:t>
            </a:r>
          </a:p>
          <a:p>
            <a:r>
              <a:rPr lang="en-AU" sz="2800" dirty="0"/>
              <a:t>('strong', 'business', 'analyst’), </a:t>
            </a:r>
          </a:p>
          <a:p>
            <a:r>
              <a:rPr lang="en-AU" sz="2800" dirty="0"/>
              <a:t>('business', 'analyst', 'data’), </a:t>
            </a:r>
          </a:p>
          <a:p>
            <a:r>
              <a:rPr lang="en-AU" sz="2800" dirty="0"/>
              <a:t>('business', 'analyst', 'gather’), </a:t>
            </a:r>
          </a:p>
          <a:p>
            <a:r>
              <a:rPr lang="en-AU" sz="2800" dirty="0"/>
              <a:t>('business', 'analyst', 'closely</a:t>
            </a:r>
            <a:r>
              <a:rPr lang="en-AU" sz="3200" dirty="0"/>
              <a:t>')</a:t>
            </a:r>
          </a:p>
        </p:txBody>
      </p:sp>
    </p:spTree>
    <p:extLst>
      <p:ext uri="{BB962C8B-B14F-4D97-AF65-F5344CB8AC3E}">
        <p14:creationId xmlns:p14="http://schemas.microsoft.com/office/powerpoint/2010/main" val="4018366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C982C-1E1C-944C-BF13-4ECE9429E905}"/>
              </a:ext>
            </a:extLst>
          </p:cNvPr>
          <p:cNvSpPr>
            <a:spLocks noGrp="1"/>
          </p:cNvSpPr>
          <p:nvPr>
            <p:ph type="title"/>
          </p:nvPr>
        </p:nvSpPr>
        <p:spPr/>
        <p:txBody>
          <a:bodyPr/>
          <a:lstStyle/>
          <a:p>
            <a:r>
              <a:rPr lang="en-US" dirty="0"/>
              <a:t>Feature Engineering : Tri-grams</a:t>
            </a:r>
          </a:p>
        </p:txBody>
      </p:sp>
      <p:sp>
        <p:nvSpPr>
          <p:cNvPr id="3" name="Rectangle 2">
            <a:extLst>
              <a:ext uri="{FF2B5EF4-FFF2-40B4-BE49-F238E27FC236}">
                <a16:creationId xmlns:a16="http://schemas.microsoft.com/office/drawing/2014/main" id="{0BB3B397-1BA5-AF41-885B-D2F676FD35A1}"/>
              </a:ext>
            </a:extLst>
          </p:cNvPr>
          <p:cNvSpPr/>
          <p:nvPr/>
        </p:nvSpPr>
        <p:spPr>
          <a:xfrm>
            <a:off x="1162374" y="2062596"/>
            <a:ext cx="6416297" cy="4031873"/>
          </a:xfrm>
          <a:prstGeom prst="rect">
            <a:avLst/>
          </a:prstGeom>
        </p:spPr>
        <p:txBody>
          <a:bodyPr wrap="square" numCol="1">
            <a:spAutoFit/>
          </a:bodyPr>
          <a:lstStyle/>
          <a:p>
            <a:r>
              <a:rPr lang="en-AU" sz="2800" dirty="0"/>
              <a:t>('business', 'analyst', 'initial’), </a:t>
            </a:r>
          </a:p>
          <a:p>
            <a:r>
              <a:rPr lang="en-AU" sz="2800" dirty="0"/>
              <a:t>('business', 'analyst', 'within’), </a:t>
            </a:r>
          </a:p>
          <a:p>
            <a:r>
              <a:rPr lang="en-AU" sz="2800" dirty="0"/>
              <a:t>('business', 'analyst', 'experience’), </a:t>
            </a:r>
          </a:p>
          <a:p>
            <a:r>
              <a:rPr lang="en-AU" sz="2800" dirty="0"/>
              <a:t>('business', 'analyst', 'strong’), </a:t>
            </a:r>
          </a:p>
          <a:p>
            <a:r>
              <a:rPr lang="en-AU" sz="2800" dirty="0"/>
              <a:t>('exist', 'business', 'analyst’), </a:t>
            </a:r>
          </a:p>
          <a:p>
            <a:r>
              <a:rPr lang="en-AU" sz="2800" dirty="0"/>
              <a:t>('strong', 'business', 'analyst’), </a:t>
            </a:r>
          </a:p>
          <a:p>
            <a:r>
              <a:rPr lang="en-AU" sz="2800" dirty="0"/>
              <a:t>('business', 'analyst', 'data’), </a:t>
            </a:r>
          </a:p>
          <a:p>
            <a:r>
              <a:rPr lang="en-AU" sz="2800" dirty="0"/>
              <a:t>('business', 'analyst', 'gather’), </a:t>
            </a:r>
          </a:p>
          <a:p>
            <a:r>
              <a:rPr lang="en-AU" sz="2800" dirty="0"/>
              <a:t>('business', 'analyst', 'closely</a:t>
            </a:r>
            <a:r>
              <a:rPr lang="en-AU" sz="3200" dirty="0"/>
              <a:t>')</a:t>
            </a:r>
          </a:p>
        </p:txBody>
      </p:sp>
      <p:pic>
        <p:nvPicPr>
          <p:cNvPr id="6" name="Picture 5" descr="A screenshot of a social media post&#10;&#10;Description automatically generated">
            <a:extLst>
              <a:ext uri="{FF2B5EF4-FFF2-40B4-BE49-F238E27FC236}">
                <a16:creationId xmlns:a16="http://schemas.microsoft.com/office/drawing/2014/main" id="{1744C333-3DB6-5C49-BEEE-339B47B0C7B3}"/>
              </a:ext>
            </a:extLst>
          </p:cNvPr>
          <p:cNvPicPr>
            <a:picLocks noChangeAspect="1"/>
          </p:cNvPicPr>
          <p:nvPr/>
        </p:nvPicPr>
        <p:blipFill rotWithShape="1">
          <a:blip r:embed="rId3"/>
          <a:srcRect l="6101" r="8094"/>
          <a:stretch/>
        </p:blipFill>
        <p:spPr>
          <a:xfrm>
            <a:off x="62288" y="1363851"/>
            <a:ext cx="12067719" cy="5450125"/>
          </a:xfrm>
          <a:prstGeom prst="rect">
            <a:avLst/>
          </a:prstGeom>
        </p:spPr>
      </p:pic>
      <p:sp>
        <p:nvSpPr>
          <p:cNvPr id="7" name="TextBox 6">
            <a:extLst>
              <a:ext uri="{FF2B5EF4-FFF2-40B4-BE49-F238E27FC236}">
                <a16:creationId xmlns:a16="http://schemas.microsoft.com/office/drawing/2014/main" id="{9416AFC8-5BD3-4D49-84ED-36D411986825}"/>
              </a:ext>
            </a:extLst>
          </p:cNvPr>
          <p:cNvSpPr txBox="1"/>
          <p:nvPr/>
        </p:nvSpPr>
        <p:spPr>
          <a:xfrm>
            <a:off x="2926596" y="2584030"/>
            <a:ext cx="4003729" cy="1631216"/>
          </a:xfrm>
          <a:prstGeom prst="rect">
            <a:avLst/>
          </a:prstGeom>
          <a:noFill/>
        </p:spPr>
        <p:txBody>
          <a:bodyPr wrap="square" rtlCol="0">
            <a:spAutoFit/>
          </a:bodyPr>
          <a:lstStyle/>
          <a:p>
            <a:r>
              <a:rPr lang="en-US" sz="2000" dirty="0">
                <a:solidFill>
                  <a:schemeClr val="bg1"/>
                </a:solidFill>
              </a:rPr>
              <a:t>cover letter + ……….</a:t>
            </a:r>
          </a:p>
          <a:p>
            <a:r>
              <a:rPr lang="en-US" sz="2000" dirty="0">
                <a:solidFill>
                  <a:schemeClr val="bg1"/>
                </a:solidFill>
              </a:rPr>
              <a:t>communication skills + ………</a:t>
            </a:r>
          </a:p>
          <a:p>
            <a:r>
              <a:rPr lang="en-US" sz="2000" dirty="0">
                <a:solidFill>
                  <a:schemeClr val="bg1"/>
                </a:solidFill>
              </a:rPr>
              <a:t>click apply + ………</a:t>
            </a:r>
          </a:p>
          <a:p>
            <a:r>
              <a:rPr lang="en-US" sz="2000" dirty="0">
                <a:solidFill>
                  <a:schemeClr val="bg1"/>
                </a:solidFill>
              </a:rPr>
              <a:t>confidential discussion + ……..</a:t>
            </a:r>
          </a:p>
          <a:p>
            <a:r>
              <a:rPr lang="en-US" sz="2000" dirty="0" err="1">
                <a:solidFill>
                  <a:schemeClr val="bg1"/>
                </a:solidFill>
              </a:rPr>
              <a:t>etc</a:t>
            </a:r>
            <a:r>
              <a:rPr lang="en-US" sz="2000" dirty="0">
                <a:solidFill>
                  <a:schemeClr val="bg1"/>
                </a:solidFill>
              </a:rPr>
              <a:t>…</a:t>
            </a:r>
          </a:p>
        </p:txBody>
      </p:sp>
      <p:sp>
        <p:nvSpPr>
          <p:cNvPr id="10" name="Right Brace 9">
            <a:extLst>
              <a:ext uri="{FF2B5EF4-FFF2-40B4-BE49-F238E27FC236}">
                <a16:creationId xmlns:a16="http://schemas.microsoft.com/office/drawing/2014/main" id="{9CC271D1-0397-A249-B01D-E8C45F27D25B}"/>
              </a:ext>
            </a:extLst>
          </p:cNvPr>
          <p:cNvSpPr/>
          <p:nvPr/>
        </p:nvSpPr>
        <p:spPr>
          <a:xfrm>
            <a:off x="2020092" y="2185261"/>
            <a:ext cx="712922" cy="2355840"/>
          </a:xfrm>
          <a:prstGeom prst="rightBrac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A1B6625A-F5EC-A048-8286-312670E892F1}"/>
              </a:ext>
            </a:extLst>
          </p:cNvPr>
          <p:cNvSpPr txBox="1"/>
          <p:nvPr/>
        </p:nvSpPr>
        <p:spPr>
          <a:xfrm>
            <a:off x="4370522" y="4541101"/>
            <a:ext cx="4003729" cy="707886"/>
          </a:xfrm>
          <a:prstGeom prst="rect">
            <a:avLst/>
          </a:prstGeom>
          <a:noFill/>
        </p:spPr>
        <p:txBody>
          <a:bodyPr wrap="square" rtlCol="0">
            <a:spAutoFit/>
          </a:bodyPr>
          <a:lstStyle/>
          <a:p>
            <a:r>
              <a:rPr lang="en-US" sz="2000" dirty="0">
                <a:solidFill>
                  <a:schemeClr val="bg1"/>
                </a:solidFill>
              </a:rPr>
              <a:t>business analyst + ……….</a:t>
            </a:r>
          </a:p>
          <a:p>
            <a:r>
              <a:rPr lang="en-US" sz="2000" dirty="0">
                <a:solidFill>
                  <a:schemeClr val="bg1"/>
                </a:solidFill>
              </a:rPr>
              <a:t>problem solving + ………</a:t>
            </a:r>
          </a:p>
        </p:txBody>
      </p:sp>
      <p:sp>
        <p:nvSpPr>
          <p:cNvPr id="14" name="TextBox 13">
            <a:extLst>
              <a:ext uri="{FF2B5EF4-FFF2-40B4-BE49-F238E27FC236}">
                <a16:creationId xmlns:a16="http://schemas.microsoft.com/office/drawing/2014/main" id="{6CF34548-F208-1740-BDFB-8FB57F722188}"/>
              </a:ext>
            </a:extLst>
          </p:cNvPr>
          <p:cNvSpPr txBox="1"/>
          <p:nvPr/>
        </p:nvSpPr>
        <p:spPr>
          <a:xfrm>
            <a:off x="7123907" y="2598003"/>
            <a:ext cx="4003729" cy="830997"/>
          </a:xfrm>
          <a:prstGeom prst="rect">
            <a:avLst/>
          </a:prstGeom>
          <a:noFill/>
        </p:spPr>
        <p:txBody>
          <a:bodyPr wrap="square" rtlCol="0">
            <a:spAutoFit/>
          </a:bodyPr>
          <a:lstStyle/>
          <a:p>
            <a:r>
              <a:rPr lang="en-US" sz="2400" dirty="0">
                <a:solidFill>
                  <a:schemeClr val="bg1"/>
                </a:solidFill>
              </a:rPr>
              <a:t>Decision: no trigrams for job description, just bigrams</a:t>
            </a:r>
          </a:p>
        </p:txBody>
      </p:sp>
    </p:spTree>
    <p:extLst>
      <p:ext uri="{BB962C8B-B14F-4D97-AF65-F5344CB8AC3E}">
        <p14:creationId xmlns:p14="http://schemas.microsoft.com/office/powerpoint/2010/main" val="711934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7"/>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13"/>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0" grpId="0" animBg="1"/>
      <p:bldP spid="10" grpId="1" animBg="1"/>
      <p:bldP spid="13" grpId="0"/>
      <p:bldP spid="13" grpId="1"/>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CA7A6-F941-1D4C-A6E5-D3D543C9D640}"/>
              </a:ext>
            </a:extLst>
          </p:cNvPr>
          <p:cNvSpPr>
            <a:spLocks noGrp="1"/>
          </p:cNvSpPr>
          <p:nvPr>
            <p:ph type="title"/>
          </p:nvPr>
        </p:nvSpPr>
        <p:spPr>
          <a:xfrm>
            <a:off x="2612583" y="297750"/>
            <a:ext cx="7958331" cy="1077229"/>
          </a:xfrm>
        </p:spPr>
        <p:txBody>
          <a:bodyPr/>
          <a:lstStyle/>
          <a:p>
            <a:r>
              <a:rPr lang="en-US" dirty="0"/>
              <a:t>Topic Modelling</a:t>
            </a:r>
          </a:p>
        </p:txBody>
      </p:sp>
      <p:pic>
        <p:nvPicPr>
          <p:cNvPr id="5" name="Content Placeholder 4" descr="A screenshot of a cell phone&#10;&#10;Description automatically generated">
            <a:extLst>
              <a:ext uri="{FF2B5EF4-FFF2-40B4-BE49-F238E27FC236}">
                <a16:creationId xmlns:a16="http://schemas.microsoft.com/office/drawing/2014/main" id="{7D969460-F83D-4145-8F50-E3448DBBDA5F}"/>
              </a:ext>
            </a:extLst>
          </p:cNvPr>
          <p:cNvPicPr>
            <a:picLocks noGrp="1" noChangeAspect="1"/>
          </p:cNvPicPr>
          <p:nvPr>
            <p:ph idx="1"/>
          </p:nvPr>
        </p:nvPicPr>
        <p:blipFill>
          <a:blip r:embed="rId3"/>
          <a:stretch>
            <a:fillRect/>
          </a:stretch>
        </p:blipFill>
        <p:spPr>
          <a:xfrm>
            <a:off x="945397" y="1250995"/>
            <a:ext cx="11292705" cy="5607005"/>
          </a:xfrm>
        </p:spPr>
      </p:pic>
    </p:spTree>
    <p:extLst>
      <p:ext uri="{BB962C8B-B14F-4D97-AF65-F5344CB8AC3E}">
        <p14:creationId xmlns:p14="http://schemas.microsoft.com/office/powerpoint/2010/main" val="2247891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D5A7A-D4F9-BE49-A9EE-E3FFEB5C1106}"/>
              </a:ext>
            </a:extLst>
          </p:cNvPr>
          <p:cNvSpPr>
            <a:spLocks noGrp="1"/>
          </p:cNvSpPr>
          <p:nvPr>
            <p:ph type="title"/>
          </p:nvPr>
        </p:nvSpPr>
        <p:spPr/>
        <p:txBody>
          <a:bodyPr/>
          <a:lstStyle/>
          <a:p>
            <a:r>
              <a:rPr lang="en-US" dirty="0"/>
              <a:t>Final Features</a:t>
            </a:r>
          </a:p>
        </p:txBody>
      </p:sp>
      <p:sp>
        <p:nvSpPr>
          <p:cNvPr id="3" name="Content Placeholder 2">
            <a:extLst>
              <a:ext uri="{FF2B5EF4-FFF2-40B4-BE49-F238E27FC236}">
                <a16:creationId xmlns:a16="http://schemas.microsoft.com/office/drawing/2014/main" id="{95D18D8D-9B69-CB45-94BF-54FDBAF6B782}"/>
              </a:ext>
            </a:extLst>
          </p:cNvPr>
          <p:cNvSpPr>
            <a:spLocks noGrp="1"/>
          </p:cNvSpPr>
          <p:nvPr>
            <p:ph idx="1"/>
          </p:nvPr>
        </p:nvSpPr>
        <p:spPr>
          <a:xfrm>
            <a:off x="1072662" y="1617785"/>
            <a:ext cx="10364595" cy="4835769"/>
          </a:xfrm>
        </p:spPr>
        <p:txBody>
          <a:bodyPr>
            <a:normAutofit/>
          </a:bodyPr>
          <a:lstStyle/>
          <a:p>
            <a:r>
              <a:rPr lang="en-US" sz="2800" dirty="0"/>
              <a:t>23          = LDA topic modelling scores</a:t>
            </a:r>
          </a:p>
          <a:p>
            <a:r>
              <a:rPr lang="en-US" sz="2800" dirty="0"/>
              <a:t>868        = TFIDIF scores – lemmatized job title </a:t>
            </a:r>
            <a:r>
              <a:rPr lang="en-US" sz="2800" dirty="0" err="1"/>
              <a:t>ngram</a:t>
            </a:r>
            <a:r>
              <a:rPr lang="en-US" sz="2800" dirty="0"/>
              <a:t> tokens</a:t>
            </a:r>
          </a:p>
          <a:p>
            <a:r>
              <a:rPr lang="en-US" sz="2800" dirty="0"/>
              <a:t>148362  = TFIDF scores – lemmatized job description 							</a:t>
            </a:r>
            <a:r>
              <a:rPr lang="en-US" sz="2800" dirty="0" err="1"/>
              <a:t>ngram</a:t>
            </a:r>
            <a:r>
              <a:rPr lang="en-US" sz="2800" dirty="0"/>
              <a:t> tokens</a:t>
            </a:r>
          </a:p>
          <a:p>
            <a:r>
              <a:rPr lang="en-US" sz="2800" dirty="0"/>
              <a:t>29          = dummied job Classifications</a:t>
            </a:r>
          </a:p>
          <a:p>
            <a:r>
              <a:rPr lang="en-US" sz="2800" dirty="0"/>
              <a:t>39          = dummied combined/simplified geographical 							location + location within city</a:t>
            </a:r>
          </a:p>
        </p:txBody>
      </p:sp>
    </p:spTree>
    <p:extLst>
      <p:ext uri="{BB962C8B-B14F-4D97-AF65-F5344CB8AC3E}">
        <p14:creationId xmlns:p14="http://schemas.microsoft.com/office/powerpoint/2010/main" val="3595283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B01ED-ACF1-D04A-B921-98D28191B5A0}"/>
              </a:ext>
            </a:extLst>
          </p:cNvPr>
          <p:cNvSpPr>
            <a:spLocks noGrp="1"/>
          </p:cNvSpPr>
          <p:nvPr>
            <p:ph type="title"/>
          </p:nvPr>
        </p:nvSpPr>
        <p:spPr/>
        <p:txBody>
          <a:bodyPr/>
          <a:lstStyle/>
          <a:p>
            <a:r>
              <a:rPr lang="en-US" dirty="0"/>
              <a:t>Salary classification – target feature</a:t>
            </a:r>
          </a:p>
        </p:txBody>
      </p:sp>
      <p:pic>
        <p:nvPicPr>
          <p:cNvPr id="5" name="Content Placeholder 4">
            <a:extLst>
              <a:ext uri="{FF2B5EF4-FFF2-40B4-BE49-F238E27FC236}">
                <a16:creationId xmlns:a16="http://schemas.microsoft.com/office/drawing/2014/main" id="{BC447C3D-BD86-DF47-931D-91216FC0263A}"/>
              </a:ext>
            </a:extLst>
          </p:cNvPr>
          <p:cNvPicPr>
            <a:picLocks noGrp="1" noChangeAspect="1"/>
          </p:cNvPicPr>
          <p:nvPr>
            <p:ph idx="1"/>
          </p:nvPr>
        </p:nvPicPr>
        <p:blipFill rotWithShape="1">
          <a:blip r:embed="rId3"/>
          <a:srcRect l="7517" r="8096"/>
          <a:stretch/>
        </p:blipFill>
        <p:spPr>
          <a:xfrm>
            <a:off x="1424354" y="1457576"/>
            <a:ext cx="9530861" cy="5270687"/>
          </a:xfrm>
        </p:spPr>
      </p:pic>
    </p:spTree>
    <p:extLst>
      <p:ext uri="{BB962C8B-B14F-4D97-AF65-F5344CB8AC3E}">
        <p14:creationId xmlns:p14="http://schemas.microsoft.com/office/powerpoint/2010/main" val="4246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hart 11">
            <a:extLst>
              <a:ext uri="{FF2B5EF4-FFF2-40B4-BE49-F238E27FC236}">
                <a16:creationId xmlns:a16="http://schemas.microsoft.com/office/drawing/2014/main" id="{F1264083-7F3F-524F-978E-DFF13932BF16}"/>
              </a:ext>
            </a:extLst>
          </p:cNvPr>
          <p:cNvGraphicFramePr>
            <a:graphicFrameLocks/>
          </p:cNvGraphicFramePr>
          <p:nvPr>
            <p:extLst>
              <p:ext uri="{D42A27DB-BD31-4B8C-83A1-F6EECF244321}">
                <p14:modId xmlns:p14="http://schemas.microsoft.com/office/powerpoint/2010/main" val="1343301019"/>
              </p:ext>
            </p:extLst>
          </p:nvPr>
        </p:nvGraphicFramePr>
        <p:xfrm>
          <a:off x="2125629" y="1883708"/>
          <a:ext cx="8289231" cy="4974292"/>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C8DC982C-1E1C-944C-BF13-4ECE9429E905}"/>
              </a:ext>
            </a:extLst>
          </p:cNvPr>
          <p:cNvSpPr>
            <a:spLocks noGrp="1"/>
          </p:cNvSpPr>
          <p:nvPr>
            <p:ph type="title"/>
          </p:nvPr>
        </p:nvSpPr>
        <p:spPr/>
        <p:txBody>
          <a:bodyPr/>
          <a:lstStyle/>
          <a:p>
            <a:r>
              <a:rPr lang="en-US" dirty="0"/>
              <a:t>Modelling results</a:t>
            </a:r>
          </a:p>
        </p:txBody>
      </p:sp>
    </p:spTree>
    <p:extLst>
      <p:ext uri="{BB962C8B-B14F-4D97-AF65-F5344CB8AC3E}">
        <p14:creationId xmlns:p14="http://schemas.microsoft.com/office/powerpoint/2010/main" val="471408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hart 11">
            <a:extLst>
              <a:ext uri="{FF2B5EF4-FFF2-40B4-BE49-F238E27FC236}">
                <a16:creationId xmlns:a16="http://schemas.microsoft.com/office/drawing/2014/main" id="{F1264083-7F3F-524F-978E-DFF13932BF16}"/>
              </a:ext>
            </a:extLst>
          </p:cNvPr>
          <p:cNvGraphicFramePr>
            <a:graphicFrameLocks/>
          </p:cNvGraphicFramePr>
          <p:nvPr>
            <p:extLst/>
          </p:nvPr>
        </p:nvGraphicFramePr>
        <p:xfrm>
          <a:off x="2125629" y="1883708"/>
          <a:ext cx="8289231" cy="4974292"/>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C8DC982C-1E1C-944C-BF13-4ECE9429E905}"/>
              </a:ext>
            </a:extLst>
          </p:cNvPr>
          <p:cNvSpPr>
            <a:spLocks noGrp="1"/>
          </p:cNvSpPr>
          <p:nvPr>
            <p:ph type="title"/>
          </p:nvPr>
        </p:nvSpPr>
        <p:spPr/>
        <p:txBody>
          <a:bodyPr/>
          <a:lstStyle/>
          <a:p>
            <a:r>
              <a:rPr lang="en-US" dirty="0"/>
              <a:t>Modelling results</a:t>
            </a:r>
          </a:p>
        </p:txBody>
      </p:sp>
      <p:pic>
        <p:nvPicPr>
          <p:cNvPr id="10" name="Picture 9" descr="A screenshot of a social media post&#10;&#10;Description automatically generated">
            <a:extLst>
              <a:ext uri="{FF2B5EF4-FFF2-40B4-BE49-F238E27FC236}">
                <a16:creationId xmlns:a16="http://schemas.microsoft.com/office/drawing/2014/main" id="{FAD9604A-40BF-054E-98E1-6800B83BA9A1}"/>
              </a:ext>
            </a:extLst>
          </p:cNvPr>
          <p:cNvPicPr>
            <a:picLocks noChangeAspect="1"/>
          </p:cNvPicPr>
          <p:nvPr/>
        </p:nvPicPr>
        <p:blipFill rotWithShape="1">
          <a:blip r:embed="rId4"/>
          <a:srcRect l="7373" r="8475" b="7255"/>
          <a:stretch/>
        </p:blipFill>
        <p:spPr>
          <a:xfrm>
            <a:off x="0" y="1620837"/>
            <a:ext cx="12253992" cy="5252066"/>
          </a:xfrm>
          <a:prstGeom prst="rect">
            <a:avLst/>
          </a:prstGeom>
        </p:spPr>
      </p:pic>
    </p:spTree>
    <p:extLst>
      <p:ext uri="{BB962C8B-B14F-4D97-AF65-F5344CB8AC3E}">
        <p14:creationId xmlns:p14="http://schemas.microsoft.com/office/powerpoint/2010/main" val="1093270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D1C42-34E6-2942-9879-643526946577}"/>
              </a:ext>
            </a:extLst>
          </p:cNvPr>
          <p:cNvSpPr>
            <a:spLocks noGrp="1"/>
          </p:cNvSpPr>
          <p:nvPr>
            <p:ph type="title"/>
          </p:nvPr>
        </p:nvSpPr>
        <p:spPr>
          <a:xfrm>
            <a:off x="1428745" y="57152"/>
            <a:ext cx="8955651" cy="1077229"/>
          </a:xfrm>
        </p:spPr>
        <p:txBody>
          <a:bodyPr/>
          <a:lstStyle/>
          <a:p>
            <a:r>
              <a:rPr lang="en-US" dirty="0"/>
              <a:t>Feature Importance from Random Forest</a:t>
            </a:r>
          </a:p>
        </p:txBody>
      </p:sp>
      <p:pic>
        <p:nvPicPr>
          <p:cNvPr id="5" name="Content Placeholder 4">
            <a:extLst>
              <a:ext uri="{FF2B5EF4-FFF2-40B4-BE49-F238E27FC236}">
                <a16:creationId xmlns:a16="http://schemas.microsoft.com/office/drawing/2014/main" id="{896184F7-B272-574A-83D8-101D6930562C}"/>
              </a:ext>
            </a:extLst>
          </p:cNvPr>
          <p:cNvPicPr>
            <a:picLocks noGrp="1" noChangeAspect="1"/>
          </p:cNvPicPr>
          <p:nvPr>
            <p:ph idx="1"/>
          </p:nvPr>
        </p:nvPicPr>
        <p:blipFill rotWithShape="1">
          <a:blip r:embed="rId3"/>
          <a:srcRect l="12479" t="27962" r="10815" b="28509"/>
          <a:stretch/>
        </p:blipFill>
        <p:spPr>
          <a:xfrm>
            <a:off x="2441684" y="745837"/>
            <a:ext cx="7851560" cy="5940712"/>
          </a:xfrm>
        </p:spPr>
      </p:pic>
    </p:spTree>
    <p:extLst>
      <p:ext uri="{BB962C8B-B14F-4D97-AF65-F5344CB8AC3E}">
        <p14:creationId xmlns:p14="http://schemas.microsoft.com/office/powerpoint/2010/main" val="2568067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D1C42-34E6-2942-9879-643526946577}"/>
              </a:ext>
            </a:extLst>
          </p:cNvPr>
          <p:cNvSpPr>
            <a:spLocks noGrp="1"/>
          </p:cNvSpPr>
          <p:nvPr>
            <p:ph type="title"/>
          </p:nvPr>
        </p:nvSpPr>
        <p:spPr>
          <a:xfrm>
            <a:off x="1428745" y="57152"/>
            <a:ext cx="8955651" cy="1077229"/>
          </a:xfrm>
        </p:spPr>
        <p:txBody>
          <a:bodyPr/>
          <a:lstStyle/>
          <a:p>
            <a:r>
              <a:rPr lang="en-US" dirty="0"/>
              <a:t>Feature Importance from Random Forest</a:t>
            </a:r>
          </a:p>
        </p:txBody>
      </p:sp>
      <p:pic>
        <p:nvPicPr>
          <p:cNvPr id="6" name="Picture 5" descr="A screenshot of a social media post&#10;&#10;Description automatically generated">
            <a:extLst>
              <a:ext uri="{FF2B5EF4-FFF2-40B4-BE49-F238E27FC236}">
                <a16:creationId xmlns:a16="http://schemas.microsoft.com/office/drawing/2014/main" id="{F77E6EFE-92F7-574D-A069-A0CB62494A48}"/>
              </a:ext>
            </a:extLst>
          </p:cNvPr>
          <p:cNvPicPr>
            <a:picLocks noChangeAspect="1"/>
          </p:cNvPicPr>
          <p:nvPr/>
        </p:nvPicPr>
        <p:blipFill rotWithShape="1">
          <a:blip r:embed="rId3"/>
          <a:srcRect l="4291" r="9273"/>
          <a:stretch/>
        </p:blipFill>
        <p:spPr>
          <a:xfrm>
            <a:off x="0" y="868931"/>
            <a:ext cx="12305230" cy="5694523"/>
          </a:xfrm>
          <a:prstGeom prst="rect">
            <a:avLst/>
          </a:prstGeom>
        </p:spPr>
      </p:pic>
    </p:spTree>
    <p:extLst>
      <p:ext uri="{BB962C8B-B14F-4D97-AF65-F5344CB8AC3E}">
        <p14:creationId xmlns:p14="http://schemas.microsoft.com/office/powerpoint/2010/main" val="359984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75371-A95A-3A46-AAD8-393314959D3A}"/>
              </a:ext>
            </a:extLst>
          </p:cNvPr>
          <p:cNvSpPr>
            <a:spLocks noGrp="1"/>
          </p:cNvSpPr>
          <p:nvPr>
            <p:ph type="title"/>
          </p:nvPr>
        </p:nvSpPr>
        <p:spPr/>
        <p:txBody>
          <a:bodyPr/>
          <a:lstStyle/>
          <a:p>
            <a:r>
              <a:rPr lang="en-US" dirty="0"/>
              <a:t>Further work</a:t>
            </a:r>
          </a:p>
        </p:txBody>
      </p:sp>
      <p:sp>
        <p:nvSpPr>
          <p:cNvPr id="3" name="Content Placeholder 2">
            <a:extLst>
              <a:ext uri="{FF2B5EF4-FFF2-40B4-BE49-F238E27FC236}">
                <a16:creationId xmlns:a16="http://schemas.microsoft.com/office/drawing/2014/main" id="{14561938-EF2C-494A-8ECD-B40C2D6083E7}"/>
              </a:ext>
            </a:extLst>
          </p:cNvPr>
          <p:cNvSpPr>
            <a:spLocks noGrp="1"/>
          </p:cNvSpPr>
          <p:nvPr>
            <p:ph idx="1"/>
          </p:nvPr>
        </p:nvSpPr>
        <p:spPr>
          <a:xfrm>
            <a:off x="1640114" y="1741714"/>
            <a:ext cx="8930025" cy="4308230"/>
          </a:xfrm>
        </p:spPr>
        <p:txBody>
          <a:bodyPr>
            <a:normAutofit fontScale="92500"/>
          </a:bodyPr>
          <a:lstStyle/>
          <a:p>
            <a:r>
              <a:rPr lang="en-US" sz="2400" dirty="0"/>
              <a:t>Try different bins for target salaries</a:t>
            </a:r>
          </a:p>
          <a:p>
            <a:r>
              <a:rPr lang="en-US" sz="2400" dirty="0"/>
              <a:t>Try to further refine LDA topics</a:t>
            </a:r>
          </a:p>
          <a:p>
            <a:r>
              <a:rPr lang="en-US" sz="2400" dirty="0"/>
              <a:t>Include </a:t>
            </a:r>
            <a:r>
              <a:rPr lang="en-US" sz="2400" u="sng" dirty="0"/>
              <a:t>all</a:t>
            </a:r>
            <a:r>
              <a:rPr lang="en-US" sz="2400" dirty="0"/>
              <a:t> single word, bigram and trigram tokens and let model decide on importance – not initially done due to considerably higher model runtime expected</a:t>
            </a:r>
          </a:p>
          <a:p>
            <a:r>
              <a:rPr lang="en-US" sz="2400" dirty="0"/>
              <a:t>Include company as feature</a:t>
            </a:r>
          </a:p>
          <a:p>
            <a:r>
              <a:rPr lang="en-US" sz="2400" dirty="0"/>
              <a:t>Include </a:t>
            </a:r>
            <a:r>
              <a:rPr lang="en-US" sz="2400" dirty="0" err="1"/>
              <a:t>Seek</a:t>
            </a:r>
            <a:r>
              <a:rPr lang="en-US" sz="2400" err="1"/>
              <a:t>.</a:t>
            </a:r>
            <a:r>
              <a:rPr lang="en-US" sz="2400"/>
              <a:t>com.au </a:t>
            </a:r>
            <a:r>
              <a:rPr lang="en-US" sz="2400" dirty="0"/>
              <a:t>sub-classification (not initially scraped)</a:t>
            </a:r>
          </a:p>
          <a:p>
            <a:r>
              <a:rPr lang="en-US" sz="2400" dirty="0"/>
              <a:t>Set up automated scraping process to continually gather more data</a:t>
            </a:r>
          </a:p>
        </p:txBody>
      </p:sp>
    </p:spTree>
    <p:extLst>
      <p:ext uri="{BB962C8B-B14F-4D97-AF65-F5344CB8AC3E}">
        <p14:creationId xmlns:p14="http://schemas.microsoft.com/office/powerpoint/2010/main" val="36807750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Madison</Template>
  <TotalTime>1900</TotalTime>
  <Words>1775</Words>
  <Application>Microsoft Macintosh PowerPoint</Application>
  <PresentationFormat>Widescreen</PresentationFormat>
  <Paragraphs>195</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MS Shell Dlg 2</vt:lpstr>
      <vt:lpstr>Wingdings</vt:lpstr>
      <vt:lpstr>Wingdings 3</vt:lpstr>
      <vt:lpstr>Madison</vt:lpstr>
      <vt:lpstr>Natural Language Processing on data science job advertisements</vt:lpstr>
      <vt:lpstr>The data</vt:lpstr>
      <vt:lpstr>Work Process</vt:lpstr>
      <vt:lpstr>Feature Engineering : Bi-grams</vt:lpstr>
      <vt:lpstr>Feature Engineering : Bi-grams</vt:lpstr>
      <vt:lpstr>Feature Engineering : Bi-grams</vt:lpstr>
      <vt:lpstr>Feature Engineering : Tri-grams</vt:lpstr>
      <vt:lpstr>Feature Engineering : Tri-grams</vt:lpstr>
      <vt:lpstr>Topic Modelling</vt:lpstr>
      <vt:lpstr>Final Features</vt:lpstr>
      <vt:lpstr>Salary classification – target feature</vt:lpstr>
      <vt:lpstr>Modelling results</vt:lpstr>
      <vt:lpstr>Modelling results</vt:lpstr>
      <vt:lpstr>Feature Importance from Random Forest</vt:lpstr>
      <vt:lpstr>Feature Importance from Random Forest</vt:lpstr>
      <vt:lpstr>Further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Ideas</dc:title>
  <dc:creator>Patrick Hearps</dc:creator>
  <cp:lastModifiedBy>Patrick Hearps</cp:lastModifiedBy>
  <cp:revision>92</cp:revision>
  <cp:lastPrinted>2019-04-12T04:57:43Z</cp:lastPrinted>
  <dcterms:created xsi:type="dcterms:W3CDTF">2019-01-12T06:36:48Z</dcterms:created>
  <dcterms:modified xsi:type="dcterms:W3CDTF">2019-04-12T05:00:02Z</dcterms:modified>
</cp:coreProperties>
</file>